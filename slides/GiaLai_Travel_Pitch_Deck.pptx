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3" r:id="rId8"/>
    <p:sldId id="264" r:id="rId9"/>
    <p:sldId id="265" r:id="rId10"/>
    <p:sldId id="266" r:id="rId11"/>
    <p:sldId id="267"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22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9539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Shape 2"/>
          <p:cNvSpPr/>
          <p:nvPr/>
        </p:nvSpPr>
        <p:spPr>
          <a:xfrm>
            <a:off x="320040" y="0"/>
            <a:ext cx="91440" cy="5143500"/>
          </a:xfrm>
          <a:prstGeom prst="rect">
            <a:avLst/>
          </a:prstGeom>
          <a:solidFill>
            <a:srgbClr val="FFFFFF"/>
          </a:solidFill>
          <a:ln/>
        </p:spPr>
        <p:txBody>
          <a:bodyPr/>
          <a:lstStyle/>
          <a:p>
            <a:endParaRPr lang="vi-VN"/>
          </a:p>
        </p:txBody>
      </p:sp>
      <p:sp>
        <p:nvSpPr>
          <p:cNvPr id="7" name="Text 5"/>
          <p:cNvSpPr/>
          <p:nvPr/>
        </p:nvSpPr>
        <p:spPr>
          <a:xfrm>
            <a:off x="731520" y="1506376"/>
            <a:ext cx="4456252" cy="822960"/>
          </a:xfrm>
          <a:prstGeom prst="rect">
            <a:avLst/>
          </a:prstGeom>
          <a:noFill/>
          <a:ln/>
        </p:spPr>
        <p:txBody>
          <a:bodyPr wrap="square" rtlCol="0" anchor="ctr"/>
          <a:lstStyle/>
          <a:p>
            <a:pPr marL="0" indent="0">
              <a:buNone/>
            </a:pPr>
            <a:r>
              <a:rPr lang="en-US" sz="4400" b="1" dirty="0">
                <a:solidFill>
                  <a:schemeClr val="tx1">
                    <a:lumMod val="75000"/>
                    <a:lumOff val="25000"/>
                  </a:schemeClr>
                </a:solidFill>
                <a:latin typeface="Segoe UI" pitchFamily="34" charset="0"/>
                <a:ea typeface="Segoe UI" pitchFamily="34" charset="-122"/>
                <a:cs typeface="Segoe UI" pitchFamily="34" charset="-120"/>
              </a:rPr>
              <a:t>GiaLai Travel</a:t>
            </a:r>
            <a:endParaRPr lang="en-US" sz="4400" dirty="0">
              <a:solidFill>
                <a:schemeClr val="tx1">
                  <a:lumMod val="75000"/>
                  <a:lumOff val="25000"/>
                </a:schemeClr>
              </a:solidFill>
            </a:endParaRPr>
          </a:p>
        </p:txBody>
      </p:sp>
      <p:sp>
        <p:nvSpPr>
          <p:cNvPr id="8" name="Text 6"/>
          <p:cNvSpPr/>
          <p:nvPr/>
        </p:nvSpPr>
        <p:spPr>
          <a:xfrm>
            <a:off x="731520" y="2329336"/>
            <a:ext cx="4754880" cy="731520"/>
          </a:xfrm>
          <a:prstGeom prst="rect">
            <a:avLst/>
          </a:prstGeom>
          <a:noFill/>
          <a:ln/>
        </p:spPr>
        <p:txBody>
          <a:bodyPr wrap="square" rtlCol="0" anchor="ctr"/>
          <a:lstStyle/>
          <a:p>
            <a:pPr marL="0" indent="0">
              <a:buNone/>
            </a:pPr>
            <a:r>
              <a:rPr lang="en-US" sz="1600" dirty="0">
                <a:solidFill>
                  <a:schemeClr val="tx1">
                    <a:lumMod val="75000"/>
                    <a:lumOff val="25000"/>
                  </a:schemeClr>
                </a:solidFill>
                <a:latin typeface="Segoe UI" pitchFamily="34" charset="0"/>
                <a:ea typeface="Segoe UI" pitchFamily="34" charset="-122"/>
                <a:cs typeface="Segoe UI" pitchFamily="34" charset="-120"/>
              </a:rPr>
              <a:t>Nền tảng Du lịch số Thông minh &amp; Trợ lý Đồng hành Khám phá Bản địa</a:t>
            </a:r>
            <a:endParaRPr lang="en-US" sz="1600" dirty="0">
              <a:solidFill>
                <a:schemeClr val="tx1">
                  <a:lumMod val="75000"/>
                  <a:lumOff val="25000"/>
                </a:schemeClr>
              </a:solidFill>
            </a:endParaRPr>
          </a:p>
        </p:txBody>
      </p:sp>
      <p:sp>
        <p:nvSpPr>
          <p:cNvPr id="9" name="Text 7"/>
          <p:cNvSpPr/>
          <p:nvPr/>
        </p:nvSpPr>
        <p:spPr>
          <a:xfrm>
            <a:off x="822960" y="2834640"/>
            <a:ext cx="4754880" cy="1097280"/>
          </a:xfrm>
          <a:prstGeom prst="rect">
            <a:avLst/>
          </a:prstGeom>
          <a:noFill/>
          <a:ln/>
        </p:spPr>
        <p:txBody>
          <a:bodyPr wrap="square" rtlCol="0" anchor="ctr"/>
          <a:lstStyle/>
          <a:p>
            <a:pPr marL="0" indent="0">
              <a:buNone/>
            </a:pPr>
            <a:endParaRPr lang="en-US" sz="1200" dirty="0"/>
          </a:p>
        </p:txBody>
      </p:sp>
      <p:pic>
        <p:nvPicPr>
          <p:cNvPr id="14" name="Picture 13">
            <a:extLst>
              <a:ext uri="{FF2B5EF4-FFF2-40B4-BE49-F238E27FC236}">
                <a16:creationId xmlns:a16="http://schemas.microsoft.com/office/drawing/2014/main" id="{C72D077F-B29B-8386-085E-3E46E8FBA2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960" y="246690"/>
            <a:ext cx="3640912" cy="699335"/>
          </a:xfrm>
          <a:prstGeom prst="rect">
            <a:avLst/>
          </a:prstGeom>
        </p:spPr>
      </p:pic>
      <p:pic>
        <p:nvPicPr>
          <p:cNvPr id="16" name="Picture 15">
            <a:extLst>
              <a:ext uri="{FF2B5EF4-FFF2-40B4-BE49-F238E27FC236}">
                <a16:creationId xmlns:a16="http://schemas.microsoft.com/office/drawing/2014/main" id="{8BCD71C6-A793-6342-B664-6F6124191E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814165"/>
            <a:ext cx="9144000" cy="2329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C2626"/>
          </a:solidFill>
          <a:ln w="12700">
            <a:solidFill>
              <a:srgbClr val="DC2626"/>
            </a:solidFill>
            <a:prstDash val="solid"/>
          </a:ln>
        </p:spPr>
        <p:txBody>
          <a:bodyPr/>
          <a:lstStyle/>
          <a:p>
            <a:endParaRPr lang="vi-VN"/>
          </a:p>
        </p:txBody>
      </p:sp>
      <p:sp>
        <p:nvSpPr>
          <p:cNvPr id="3" name="Text 1"/>
          <p:cNvSpPr/>
          <p:nvPr/>
        </p:nvSpPr>
        <p:spPr>
          <a:xfrm>
            <a:off x="731520" y="320040"/>
            <a:ext cx="6400800" cy="274320"/>
          </a:xfrm>
          <a:prstGeom prst="rect">
            <a:avLst/>
          </a:prstGeom>
          <a:noFill/>
          <a:ln/>
        </p:spPr>
        <p:txBody>
          <a:bodyPr wrap="square" rtlCol="0" anchor="ctr"/>
          <a:lstStyle/>
          <a:p>
            <a:pPr marL="0" indent="0">
              <a:buNone/>
            </a:pPr>
            <a:r>
              <a:rPr lang="en-US" sz="1000" b="1" dirty="0">
                <a:solidFill>
                  <a:srgbClr val="DC2626"/>
                </a:solidFill>
                <a:latin typeface="Segoe UI" pitchFamily="34" charset="0"/>
                <a:ea typeface="Segoe UI" pitchFamily="34" charset="-122"/>
                <a:cs typeface="Segoe UI" pitchFamily="34" charset="-120"/>
              </a:rPr>
              <a:t>01. BỐI CẢNH &amp; VẤN ĐỀ</a:t>
            </a:r>
            <a:endParaRPr lang="en-US" sz="1000" dirty="0"/>
          </a:p>
        </p:txBody>
      </p:sp>
      <p:sp>
        <p:nvSpPr>
          <p:cNvPr id="4" name="Text 2"/>
          <p:cNvSpPr/>
          <p:nvPr/>
        </p:nvSpPr>
        <p:spPr>
          <a:xfrm>
            <a:off x="731520" y="594360"/>
            <a:ext cx="6858000" cy="457200"/>
          </a:xfrm>
          <a:prstGeom prst="rect">
            <a:avLst/>
          </a:prstGeom>
          <a:noFill/>
          <a:ln/>
        </p:spPr>
        <p:txBody>
          <a:bodyPr wrap="square" rtlCol="0" anchor="ctr"/>
          <a:lstStyle/>
          <a:p>
            <a:pPr marL="0" indent="0">
              <a:buNone/>
            </a:pPr>
            <a:r>
              <a:rPr lang="en-US" sz="2200" b="1" dirty="0">
                <a:solidFill>
                  <a:srgbClr val="1E3A8A"/>
                </a:solidFill>
                <a:latin typeface="Segoe UI" pitchFamily="34" charset="0"/>
                <a:ea typeface="Segoe UI" pitchFamily="34" charset="-122"/>
                <a:cs typeface="Segoe UI" pitchFamily="34" charset="-120"/>
              </a:rPr>
              <a:t>Thực Trạng &amp; Nỗi Đau (Pain Points) Của Du Lịch Gia Lai</a:t>
            </a:r>
            <a:endParaRPr lang="en-US" sz="2200" dirty="0"/>
          </a:p>
        </p:txBody>
      </p:sp>
      <p:sp>
        <p:nvSpPr>
          <p:cNvPr id="5" name="Text 3"/>
          <p:cNvSpPr/>
          <p:nvPr/>
        </p:nvSpPr>
        <p:spPr>
          <a:xfrm>
            <a:off x="6217920" y="320040"/>
            <a:ext cx="2194560" cy="274320"/>
          </a:xfrm>
          <a:prstGeom prst="rect">
            <a:avLst/>
          </a:prstGeom>
          <a:noFill/>
          <a:ln/>
        </p:spPr>
        <p:txBody>
          <a:bodyPr wrap="square" rtlCol="0" anchor="ctr"/>
          <a:lstStyle/>
          <a:p>
            <a:pPr marL="0" indent="0" algn="r">
              <a:buNone/>
            </a:pPr>
            <a:r>
              <a:rPr lang="en-US" sz="900" dirty="0">
                <a:solidFill>
                  <a:srgbClr val="475569"/>
                </a:solidFill>
                <a:latin typeface="Segoe UI" pitchFamily="34" charset="0"/>
                <a:ea typeface="Segoe UI" pitchFamily="34" charset="-122"/>
                <a:cs typeface="Segoe UI" pitchFamily="34" charset="-120"/>
              </a:rPr>
              <a:t>2 | GiaLai Travel Pitch Deck</a:t>
            </a:r>
            <a:endParaRPr lang="en-US" sz="900" dirty="0"/>
          </a:p>
        </p:txBody>
      </p:sp>
      <p:sp>
        <p:nvSpPr>
          <p:cNvPr id="6" name="Shape 4"/>
          <p:cNvSpPr/>
          <p:nvPr/>
        </p:nvSpPr>
        <p:spPr>
          <a:xfrm>
            <a:off x="731520" y="1097280"/>
            <a:ext cx="7680960" cy="0"/>
          </a:xfrm>
          <a:prstGeom prst="line">
            <a:avLst/>
          </a:prstGeom>
          <a:noFill/>
          <a:ln w="19050">
            <a:solidFill>
              <a:srgbClr val="E2E8F0"/>
            </a:solidFill>
            <a:prstDash val="solid"/>
          </a:ln>
        </p:spPr>
        <p:txBody>
          <a:bodyPr/>
          <a:lstStyle/>
          <a:p>
            <a:endParaRPr lang="vi-VN"/>
          </a:p>
        </p:txBody>
      </p:sp>
      <p:sp>
        <p:nvSpPr>
          <p:cNvPr id="7" name="Shape 5"/>
          <p:cNvSpPr/>
          <p:nvPr/>
        </p:nvSpPr>
        <p:spPr>
          <a:xfrm>
            <a:off x="731520" y="1280160"/>
            <a:ext cx="2377440" cy="3474720"/>
          </a:xfrm>
          <a:prstGeom prst="roundRect">
            <a:avLst>
              <a:gd name="adj" fmla="val 3846"/>
            </a:avLst>
          </a:prstGeom>
          <a:solidFill>
            <a:srgbClr val="EFF6FF"/>
          </a:solidFill>
          <a:ln w="19050">
            <a:solidFill>
              <a:srgbClr val="0047AB"/>
            </a:solidFill>
            <a:prstDash val="solid"/>
          </a:ln>
        </p:spPr>
        <p:txBody>
          <a:bodyPr/>
          <a:lstStyle/>
          <a:p>
            <a:endParaRPr lang="vi-VN"/>
          </a:p>
        </p:txBody>
      </p:sp>
      <p:sp>
        <p:nvSpPr>
          <p:cNvPr id="8" name="Text 6"/>
          <p:cNvSpPr/>
          <p:nvPr/>
        </p:nvSpPr>
        <p:spPr>
          <a:xfrm>
            <a:off x="822960" y="1417320"/>
            <a:ext cx="2194560" cy="274320"/>
          </a:xfrm>
          <a:prstGeom prst="rect">
            <a:avLst/>
          </a:prstGeom>
          <a:noFill/>
          <a:ln/>
        </p:spPr>
        <p:txBody>
          <a:bodyPr wrap="square" rtlCol="0" anchor="ctr"/>
          <a:lstStyle/>
          <a:p>
            <a:pPr marL="0" indent="0">
              <a:buNone/>
            </a:pPr>
            <a:r>
              <a:rPr lang="en-US" sz="1200" b="1" dirty="0">
                <a:solidFill>
                  <a:srgbClr val="1E3A8A"/>
                </a:solidFill>
                <a:latin typeface="Segoe UI" pitchFamily="34" charset="0"/>
                <a:ea typeface="Segoe UI" pitchFamily="34" charset="-122"/>
                <a:cs typeface="Segoe UI" pitchFamily="34" charset="-120"/>
              </a:rPr>
              <a:t>TIỀM NĂNG GIA LAI</a:t>
            </a:r>
            <a:endParaRPr lang="en-US" sz="1200" dirty="0"/>
          </a:p>
        </p:txBody>
      </p:sp>
      <p:sp>
        <p:nvSpPr>
          <p:cNvPr id="9" name="Text 7"/>
          <p:cNvSpPr/>
          <p:nvPr/>
        </p:nvSpPr>
        <p:spPr>
          <a:xfrm>
            <a:off x="822960" y="1783080"/>
            <a:ext cx="2194560" cy="2834640"/>
          </a:xfrm>
          <a:prstGeom prst="rect">
            <a:avLst/>
          </a:prstGeom>
          <a:noFill/>
          <a:ln/>
        </p:spPr>
        <p:txBody>
          <a:bodyPr wrap="square" rtlCol="0" anchor="ctr"/>
          <a:lstStyle/>
          <a:p>
            <a:pPr marL="0" indent="0">
              <a:buNone/>
            </a:pPr>
            <a:r>
              <a:rPr lang="en-US" sz="1050" b="1" dirty="0">
                <a:solidFill>
                  <a:srgbClr val="0F172A"/>
                </a:solidFill>
                <a:latin typeface="Segoe UI" pitchFamily="34" charset="0"/>
                <a:ea typeface="Segoe UI" pitchFamily="34" charset="-122"/>
                <a:cs typeface="Segoe UI" pitchFamily="34" charset="-120"/>
              </a:rPr>
              <a:t>• Điểm đến nổi tiếng: </a:t>
            </a:r>
            <a:r>
              <a:rPr lang="en-US" sz="1050" dirty="0">
                <a:solidFill>
                  <a:srgbClr val="0F172A"/>
                </a:solidFill>
                <a:latin typeface="Segoe UI" pitchFamily="34" charset="0"/>
                <a:ea typeface="Segoe UI" pitchFamily="34" charset="-122"/>
                <a:cs typeface="Segoe UI" pitchFamily="34" charset="-120"/>
              </a:rPr>
              <a:t>Biển Hồ T'Nưng, Chư Đăng Ya, Thác K50, Chùa Minh Thành, Hàng thông trăm tuổi.
</a:t>
            </a:r>
            <a:r>
              <a:rPr lang="en-US" sz="1050" b="1" dirty="0">
                <a:solidFill>
                  <a:srgbClr val="0F172A"/>
                </a:solidFill>
                <a:latin typeface="Segoe UI" pitchFamily="34" charset="0"/>
                <a:ea typeface="Segoe UI" pitchFamily="34" charset="-122"/>
                <a:cs typeface="Segoe UI" pitchFamily="34" charset="-120"/>
              </a:rPr>
              <a:t>• Văn hóa đặc sắc: </a:t>
            </a:r>
            <a:r>
              <a:rPr lang="en-US" sz="1050" dirty="0">
                <a:solidFill>
                  <a:srgbClr val="0F172A"/>
                </a:solidFill>
                <a:latin typeface="Segoe UI" pitchFamily="34" charset="0"/>
                <a:ea typeface="Segoe UI" pitchFamily="34" charset="-122"/>
                <a:cs typeface="Segoe UI" pitchFamily="34" charset="-120"/>
              </a:rPr>
              <a:t>Không gian văn hóa Cồng chiêng Tây Nguyên (UNESCO), nhà rông, sử thi Jrai.
</a:t>
            </a:r>
            <a:r>
              <a:rPr lang="en-US" sz="1050" b="1" dirty="0">
                <a:solidFill>
                  <a:srgbClr val="0F172A"/>
                </a:solidFill>
                <a:latin typeface="Segoe UI" pitchFamily="34" charset="0"/>
                <a:ea typeface="Segoe UI" pitchFamily="34" charset="-122"/>
                <a:cs typeface="Segoe UI" pitchFamily="34" charset="-120"/>
              </a:rPr>
              <a:t>• Quy mô: </a:t>
            </a:r>
            <a:r>
              <a:rPr lang="en-US" sz="1050" dirty="0">
                <a:solidFill>
                  <a:srgbClr val="0F172A"/>
                </a:solidFill>
                <a:latin typeface="Segoe UI" pitchFamily="34" charset="0"/>
                <a:ea typeface="Segoe UI" pitchFamily="34" charset="-122"/>
                <a:cs typeface="Segoe UI" pitchFamily="34" charset="-120"/>
              </a:rPr>
              <a:t>Hơn 1.2+ triệu lượt khách/năm nhưng chi tiêu bình quân và thời gian lưu trú còn thấp.</a:t>
            </a:r>
            <a:endParaRPr lang="en-US" sz="1050" dirty="0"/>
          </a:p>
        </p:txBody>
      </p:sp>
      <p:sp>
        <p:nvSpPr>
          <p:cNvPr id="10" name="Shape 8"/>
          <p:cNvSpPr/>
          <p:nvPr/>
        </p:nvSpPr>
        <p:spPr>
          <a:xfrm>
            <a:off x="3291840" y="1280160"/>
            <a:ext cx="2423160" cy="1645920"/>
          </a:xfrm>
          <a:prstGeom prst="roundRect">
            <a:avLst>
              <a:gd name="adj" fmla="val 5556"/>
            </a:avLst>
          </a:prstGeom>
          <a:solidFill>
            <a:srgbClr val="FFFFFF"/>
          </a:solidFill>
          <a:ln w="15240">
            <a:solidFill>
              <a:srgbClr val="DC2626"/>
            </a:solidFill>
            <a:prstDash val="solid"/>
          </a:ln>
        </p:spPr>
        <p:txBody>
          <a:bodyPr/>
          <a:lstStyle/>
          <a:p>
            <a:endParaRPr lang="vi-VN"/>
          </a:p>
        </p:txBody>
      </p:sp>
      <p:sp>
        <p:nvSpPr>
          <p:cNvPr id="11" name="Shape 9"/>
          <p:cNvSpPr/>
          <p:nvPr/>
        </p:nvSpPr>
        <p:spPr>
          <a:xfrm>
            <a:off x="3429000" y="1417320"/>
            <a:ext cx="1097280" cy="256032"/>
          </a:xfrm>
          <a:prstGeom prst="rect">
            <a:avLst/>
          </a:prstGeom>
          <a:solidFill>
            <a:srgbClr val="FEF2F2"/>
          </a:solidFill>
          <a:ln/>
        </p:spPr>
        <p:txBody>
          <a:bodyPr/>
          <a:lstStyle/>
          <a:p>
            <a:endParaRPr lang="vi-VN"/>
          </a:p>
        </p:txBody>
      </p:sp>
      <p:sp>
        <p:nvSpPr>
          <p:cNvPr id="12" name="Text 10"/>
          <p:cNvSpPr/>
          <p:nvPr/>
        </p:nvSpPr>
        <p:spPr>
          <a:xfrm>
            <a:off x="3429000" y="1417320"/>
            <a:ext cx="1097280" cy="256032"/>
          </a:xfrm>
          <a:prstGeom prst="rect">
            <a:avLst/>
          </a:prstGeom>
          <a:noFill/>
          <a:ln/>
        </p:spPr>
        <p:txBody>
          <a:bodyPr wrap="square" rtlCol="0" anchor="ctr"/>
          <a:lstStyle/>
          <a:p>
            <a:pPr marL="0" indent="0" algn="ctr">
              <a:buNone/>
            </a:pPr>
            <a:r>
              <a:rPr lang="en-US" sz="900" b="1" dirty="0">
                <a:solidFill>
                  <a:srgbClr val="DC2626"/>
                </a:solidFill>
                <a:latin typeface="Segoe UI" pitchFamily="34" charset="0"/>
                <a:ea typeface="Segoe UI" pitchFamily="34" charset="-122"/>
                <a:cs typeface="Segoe UI" pitchFamily="34" charset="-120"/>
              </a:rPr>
              <a:t>⚠️ VẤN ĐỀ 1</a:t>
            </a:r>
            <a:endParaRPr lang="en-US" sz="900" dirty="0"/>
          </a:p>
        </p:txBody>
      </p:sp>
      <p:sp>
        <p:nvSpPr>
          <p:cNvPr id="13" name="Text 11"/>
          <p:cNvSpPr/>
          <p:nvPr/>
        </p:nvSpPr>
        <p:spPr>
          <a:xfrm>
            <a:off x="3429000" y="1719072"/>
            <a:ext cx="2148840" cy="411480"/>
          </a:xfrm>
          <a:prstGeom prst="rect">
            <a:avLst/>
          </a:prstGeom>
          <a:noFill/>
          <a:ln/>
        </p:spPr>
        <p:txBody>
          <a:bodyPr wrap="square" rtlCol="0" anchor="ctr"/>
          <a:lstStyle/>
          <a:p>
            <a:pPr marL="0" indent="0">
              <a:buNone/>
            </a:pPr>
            <a:r>
              <a:rPr lang="en-US" sz="1100" b="1" dirty="0">
                <a:solidFill>
                  <a:srgbClr val="1E3A8A"/>
                </a:solidFill>
                <a:latin typeface="Segoe UI" pitchFamily="34" charset="0"/>
                <a:ea typeface="Segoe UI" pitchFamily="34" charset="-122"/>
                <a:cs typeface="Segoe UI" pitchFamily="34" charset="-120"/>
              </a:rPr>
              <a:t>Thông Tin Rời Rạc &amp; Thiếu Kiểm Chứng</a:t>
            </a:r>
            <a:endParaRPr lang="en-US" sz="1100" dirty="0"/>
          </a:p>
        </p:txBody>
      </p:sp>
      <p:sp>
        <p:nvSpPr>
          <p:cNvPr id="14" name="Text 12"/>
          <p:cNvSpPr/>
          <p:nvPr/>
        </p:nvSpPr>
        <p:spPr>
          <a:xfrm>
            <a:off x="3429000" y="2148840"/>
            <a:ext cx="2148840" cy="731520"/>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Du khách phải tìm kiếm thủ công qua mạng xã hội, diễn đàn; thông tin về giờ mở cửa, đường đi, giá dịch vụ thiếu chuẩn xác và không có cẩm nang thống nhất.</a:t>
            </a:r>
            <a:endParaRPr lang="en-US" sz="950" dirty="0"/>
          </a:p>
        </p:txBody>
      </p:sp>
      <p:sp>
        <p:nvSpPr>
          <p:cNvPr id="15" name="Shape 13"/>
          <p:cNvSpPr/>
          <p:nvPr/>
        </p:nvSpPr>
        <p:spPr>
          <a:xfrm>
            <a:off x="5852160" y="1280160"/>
            <a:ext cx="2423160" cy="1645920"/>
          </a:xfrm>
          <a:prstGeom prst="roundRect">
            <a:avLst>
              <a:gd name="adj" fmla="val 5556"/>
            </a:avLst>
          </a:prstGeom>
          <a:solidFill>
            <a:srgbClr val="FFFFFF"/>
          </a:solidFill>
          <a:ln w="15240">
            <a:solidFill>
              <a:srgbClr val="DC2626"/>
            </a:solidFill>
            <a:prstDash val="solid"/>
          </a:ln>
        </p:spPr>
        <p:txBody>
          <a:bodyPr/>
          <a:lstStyle/>
          <a:p>
            <a:endParaRPr lang="vi-VN"/>
          </a:p>
        </p:txBody>
      </p:sp>
      <p:sp>
        <p:nvSpPr>
          <p:cNvPr id="16" name="Shape 14"/>
          <p:cNvSpPr/>
          <p:nvPr/>
        </p:nvSpPr>
        <p:spPr>
          <a:xfrm>
            <a:off x="5989320" y="1417320"/>
            <a:ext cx="1097280" cy="256032"/>
          </a:xfrm>
          <a:prstGeom prst="rect">
            <a:avLst/>
          </a:prstGeom>
          <a:solidFill>
            <a:srgbClr val="FEF2F2"/>
          </a:solidFill>
          <a:ln/>
        </p:spPr>
        <p:txBody>
          <a:bodyPr/>
          <a:lstStyle/>
          <a:p>
            <a:endParaRPr lang="vi-VN"/>
          </a:p>
        </p:txBody>
      </p:sp>
      <p:sp>
        <p:nvSpPr>
          <p:cNvPr id="17" name="Text 15"/>
          <p:cNvSpPr/>
          <p:nvPr/>
        </p:nvSpPr>
        <p:spPr>
          <a:xfrm>
            <a:off x="5989320" y="1417320"/>
            <a:ext cx="1097280" cy="256032"/>
          </a:xfrm>
          <a:prstGeom prst="rect">
            <a:avLst/>
          </a:prstGeom>
          <a:noFill/>
          <a:ln/>
        </p:spPr>
        <p:txBody>
          <a:bodyPr wrap="square" rtlCol="0" anchor="ctr"/>
          <a:lstStyle/>
          <a:p>
            <a:pPr marL="0" indent="0" algn="ctr">
              <a:buNone/>
            </a:pPr>
            <a:r>
              <a:rPr lang="en-US" sz="900" b="1" dirty="0">
                <a:solidFill>
                  <a:srgbClr val="DC2626"/>
                </a:solidFill>
                <a:latin typeface="Segoe UI" pitchFamily="34" charset="0"/>
                <a:ea typeface="Segoe UI" pitchFamily="34" charset="-122"/>
                <a:cs typeface="Segoe UI" pitchFamily="34" charset="-120"/>
              </a:rPr>
              <a:t>🗺️ VẤN ĐỀ 2</a:t>
            </a:r>
            <a:endParaRPr lang="en-US" sz="900" dirty="0"/>
          </a:p>
        </p:txBody>
      </p:sp>
      <p:sp>
        <p:nvSpPr>
          <p:cNvPr id="18" name="Text 16"/>
          <p:cNvSpPr/>
          <p:nvPr/>
        </p:nvSpPr>
        <p:spPr>
          <a:xfrm>
            <a:off x="5989320" y="1719072"/>
            <a:ext cx="2148840" cy="411480"/>
          </a:xfrm>
          <a:prstGeom prst="rect">
            <a:avLst/>
          </a:prstGeom>
          <a:noFill/>
          <a:ln/>
        </p:spPr>
        <p:txBody>
          <a:bodyPr wrap="square" rtlCol="0" anchor="ctr"/>
          <a:lstStyle/>
          <a:p>
            <a:pPr marL="0" indent="0">
              <a:buNone/>
            </a:pPr>
            <a:r>
              <a:rPr lang="en-US" sz="1100" b="1" dirty="0">
                <a:solidFill>
                  <a:srgbClr val="1E3A8A"/>
                </a:solidFill>
                <a:latin typeface="Segoe UI" pitchFamily="34" charset="0"/>
                <a:ea typeface="Segoe UI" pitchFamily="34" charset="-122"/>
                <a:cs typeface="Segoe UI" pitchFamily="34" charset="-120"/>
              </a:rPr>
              <a:t>Lúng Túng Khi Tự Lên Lịch Trình</a:t>
            </a:r>
            <a:endParaRPr lang="en-US" sz="1100" dirty="0"/>
          </a:p>
        </p:txBody>
      </p:sp>
      <p:sp>
        <p:nvSpPr>
          <p:cNvPr id="19" name="Text 17"/>
          <p:cNvSpPr/>
          <p:nvPr/>
        </p:nvSpPr>
        <p:spPr>
          <a:xfrm>
            <a:off x="5989320" y="2148840"/>
            <a:ext cx="2148840" cy="731520"/>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Gia Lai có địa hình đồi núi, đèo dốc và các huyện cách xa nhau (Kbang, Chư Păh, Ia Grai). Du khách không biết sắp xếp tuyến đường tối ưu thời gian &amp; chi phí.</a:t>
            </a:r>
            <a:endParaRPr lang="en-US" sz="950" dirty="0"/>
          </a:p>
        </p:txBody>
      </p:sp>
      <p:sp>
        <p:nvSpPr>
          <p:cNvPr id="20" name="Shape 18"/>
          <p:cNvSpPr/>
          <p:nvPr/>
        </p:nvSpPr>
        <p:spPr>
          <a:xfrm>
            <a:off x="3291840" y="3063240"/>
            <a:ext cx="2423160" cy="1645920"/>
          </a:xfrm>
          <a:prstGeom prst="roundRect">
            <a:avLst>
              <a:gd name="adj" fmla="val 5556"/>
            </a:avLst>
          </a:prstGeom>
          <a:solidFill>
            <a:srgbClr val="FFFFFF"/>
          </a:solidFill>
          <a:ln w="15240">
            <a:solidFill>
              <a:srgbClr val="DC2626"/>
            </a:solidFill>
            <a:prstDash val="solid"/>
          </a:ln>
        </p:spPr>
        <p:txBody>
          <a:bodyPr/>
          <a:lstStyle/>
          <a:p>
            <a:endParaRPr lang="vi-VN"/>
          </a:p>
        </p:txBody>
      </p:sp>
      <p:sp>
        <p:nvSpPr>
          <p:cNvPr id="21" name="Shape 19"/>
          <p:cNvSpPr/>
          <p:nvPr/>
        </p:nvSpPr>
        <p:spPr>
          <a:xfrm>
            <a:off x="3429000" y="3200400"/>
            <a:ext cx="1097280" cy="256032"/>
          </a:xfrm>
          <a:prstGeom prst="rect">
            <a:avLst/>
          </a:prstGeom>
          <a:solidFill>
            <a:srgbClr val="FEF2F2"/>
          </a:solidFill>
          <a:ln/>
        </p:spPr>
        <p:txBody>
          <a:bodyPr/>
          <a:lstStyle/>
          <a:p>
            <a:endParaRPr lang="vi-VN"/>
          </a:p>
        </p:txBody>
      </p:sp>
      <p:sp>
        <p:nvSpPr>
          <p:cNvPr id="22" name="Text 20"/>
          <p:cNvSpPr/>
          <p:nvPr/>
        </p:nvSpPr>
        <p:spPr>
          <a:xfrm>
            <a:off x="3429000" y="3200400"/>
            <a:ext cx="1097280" cy="256032"/>
          </a:xfrm>
          <a:prstGeom prst="rect">
            <a:avLst/>
          </a:prstGeom>
          <a:noFill/>
          <a:ln/>
        </p:spPr>
        <p:txBody>
          <a:bodyPr wrap="square" rtlCol="0" anchor="ctr"/>
          <a:lstStyle/>
          <a:p>
            <a:pPr marL="0" indent="0" algn="ctr">
              <a:buNone/>
            </a:pPr>
            <a:r>
              <a:rPr lang="en-US" sz="900" b="1" dirty="0">
                <a:solidFill>
                  <a:srgbClr val="DC2626"/>
                </a:solidFill>
                <a:latin typeface="Segoe UI" pitchFamily="34" charset="0"/>
                <a:ea typeface="Segoe UI" pitchFamily="34" charset="-122"/>
                <a:cs typeface="Segoe UI" pitchFamily="34" charset="-120"/>
              </a:rPr>
              <a:t>📵 VẤN ĐỀ 3</a:t>
            </a:r>
            <a:endParaRPr lang="en-US" sz="900" dirty="0"/>
          </a:p>
        </p:txBody>
      </p:sp>
      <p:sp>
        <p:nvSpPr>
          <p:cNvPr id="23" name="Text 21"/>
          <p:cNvSpPr/>
          <p:nvPr/>
        </p:nvSpPr>
        <p:spPr>
          <a:xfrm>
            <a:off x="3429000" y="3502152"/>
            <a:ext cx="2148840" cy="411480"/>
          </a:xfrm>
          <a:prstGeom prst="rect">
            <a:avLst/>
          </a:prstGeom>
          <a:noFill/>
          <a:ln/>
        </p:spPr>
        <p:txBody>
          <a:bodyPr wrap="square" rtlCol="0" anchor="ctr"/>
          <a:lstStyle/>
          <a:p>
            <a:pPr marL="0" indent="0">
              <a:buNone/>
            </a:pPr>
            <a:r>
              <a:rPr lang="en-US" sz="1100" b="1" dirty="0">
                <a:solidFill>
                  <a:srgbClr val="1E3A8A"/>
                </a:solidFill>
                <a:latin typeface="Segoe UI" pitchFamily="34" charset="0"/>
                <a:ea typeface="Segoe UI" pitchFamily="34" charset="-122"/>
                <a:cs typeface="Segoe UI" pitchFamily="34" charset="-120"/>
              </a:rPr>
              <a:t>Mất Sóng 4G/Internet Khi Trải Nghiệm</a:t>
            </a:r>
            <a:endParaRPr lang="en-US" sz="1100" dirty="0"/>
          </a:p>
        </p:txBody>
      </p:sp>
      <p:sp>
        <p:nvSpPr>
          <p:cNvPr id="24" name="Text 22"/>
          <p:cNvSpPr/>
          <p:nvPr/>
        </p:nvSpPr>
        <p:spPr>
          <a:xfrm>
            <a:off x="3429000" y="3931920"/>
            <a:ext cx="2148840" cy="731520"/>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Nhiều điểm sinh thái hùng vĩ (thác sâu, rừng nguyên sinh, khu bảo tồn Kon Chư Răng) hoàn toàn mất sóng mạng. Các ứng dụng du lịch thông thường bị tê liệt.</a:t>
            </a:r>
            <a:endParaRPr lang="en-US" sz="950" dirty="0"/>
          </a:p>
        </p:txBody>
      </p:sp>
      <p:sp>
        <p:nvSpPr>
          <p:cNvPr id="25" name="Shape 23"/>
          <p:cNvSpPr/>
          <p:nvPr/>
        </p:nvSpPr>
        <p:spPr>
          <a:xfrm>
            <a:off x="5852160" y="3063240"/>
            <a:ext cx="2423160" cy="1645920"/>
          </a:xfrm>
          <a:prstGeom prst="roundRect">
            <a:avLst>
              <a:gd name="adj" fmla="val 5556"/>
            </a:avLst>
          </a:prstGeom>
          <a:solidFill>
            <a:srgbClr val="FFFFFF"/>
          </a:solidFill>
          <a:ln w="15240">
            <a:solidFill>
              <a:srgbClr val="DC2626"/>
            </a:solidFill>
            <a:prstDash val="solid"/>
          </a:ln>
        </p:spPr>
        <p:txBody>
          <a:bodyPr/>
          <a:lstStyle/>
          <a:p>
            <a:endParaRPr lang="vi-VN"/>
          </a:p>
        </p:txBody>
      </p:sp>
      <p:sp>
        <p:nvSpPr>
          <p:cNvPr id="26" name="Shape 24"/>
          <p:cNvSpPr/>
          <p:nvPr/>
        </p:nvSpPr>
        <p:spPr>
          <a:xfrm>
            <a:off x="5989320" y="3200400"/>
            <a:ext cx="1097280" cy="256032"/>
          </a:xfrm>
          <a:prstGeom prst="rect">
            <a:avLst/>
          </a:prstGeom>
          <a:solidFill>
            <a:srgbClr val="FEF2F2"/>
          </a:solidFill>
          <a:ln/>
        </p:spPr>
        <p:txBody>
          <a:bodyPr/>
          <a:lstStyle/>
          <a:p>
            <a:endParaRPr lang="vi-VN"/>
          </a:p>
        </p:txBody>
      </p:sp>
      <p:sp>
        <p:nvSpPr>
          <p:cNvPr id="27" name="Text 25"/>
          <p:cNvSpPr/>
          <p:nvPr/>
        </p:nvSpPr>
        <p:spPr>
          <a:xfrm>
            <a:off x="5989320" y="3200400"/>
            <a:ext cx="1097280" cy="256032"/>
          </a:xfrm>
          <a:prstGeom prst="rect">
            <a:avLst/>
          </a:prstGeom>
          <a:noFill/>
          <a:ln/>
        </p:spPr>
        <p:txBody>
          <a:bodyPr wrap="square" rtlCol="0" anchor="ctr"/>
          <a:lstStyle/>
          <a:p>
            <a:pPr marL="0" indent="0" algn="ctr">
              <a:buNone/>
            </a:pPr>
            <a:r>
              <a:rPr lang="en-US" sz="900" b="1" dirty="0">
                <a:solidFill>
                  <a:srgbClr val="DC2626"/>
                </a:solidFill>
                <a:latin typeface="Segoe UI" pitchFamily="34" charset="0"/>
                <a:ea typeface="Segoe UI" pitchFamily="34" charset="-122"/>
                <a:cs typeface="Segoe UI" pitchFamily="34" charset="-120"/>
              </a:rPr>
              <a:t>💸 VẤN ĐỀ 4</a:t>
            </a:r>
            <a:endParaRPr lang="en-US" sz="900" dirty="0"/>
          </a:p>
        </p:txBody>
      </p:sp>
      <p:sp>
        <p:nvSpPr>
          <p:cNvPr id="28" name="Text 26"/>
          <p:cNvSpPr/>
          <p:nvPr/>
        </p:nvSpPr>
        <p:spPr>
          <a:xfrm>
            <a:off x="5989320" y="3502152"/>
            <a:ext cx="2148840" cy="411480"/>
          </a:xfrm>
          <a:prstGeom prst="rect">
            <a:avLst/>
          </a:prstGeom>
          <a:noFill/>
          <a:ln/>
        </p:spPr>
        <p:txBody>
          <a:bodyPr wrap="square" rtlCol="0" anchor="ctr"/>
          <a:lstStyle/>
          <a:p>
            <a:pPr marL="0" indent="0">
              <a:buNone/>
            </a:pPr>
            <a:r>
              <a:rPr lang="en-US" sz="1100" b="1" dirty="0">
                <a:solidFill>
                  <a:srgbClr val="1E3A8A"/>
                </a:solidFill>
                <a:latin typeface="Segoe UI" pitchFamily="34" charset="0"/>
                <a:ea typeface="Segoe UI" pitchFamily="34" charset="-122"/>
                <a:cs typeface="Segoe UI" pitchFamily="34" charset="-120"/>
              </a:rPr>
              <a:t>Cộng Đồng Bản Địa Chịu Phí OTA Cao</a:t>
            </a:r>
            <a:endParaRPr lang="en-US" sz="1100" dirty="0"/>
          </a:p>
        </p:txBody>
      </p:sp>
      <p:sp>
        <p:nvSpPr>
          <p:cNvPr id="29" name="Text 27"/>
          <p:cNvSpPr/>
          <p:nvPr/>
        </p:nvSpPr>
        <p:spPr>
          <a:xfrm>
            <a:off x="5989320" y="3931920"/>
            <a:ext cx="2148840" cy="731520"/>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Các hộ homestay, hướng dẫn viên, hộ kinh doanh đặc sản Gia Lai bị áp mức chiết khấu 18-25% từ các nền tảng OTA nước ngoài, hạn chế quảng bá văn hóa địa phương.</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C2626"/>
          </a:solidFill>
          <a:ln w="12700">
            <a:solidFill>
              <a:srgbClr val="DC2626"/>
            </a:solidFill>
            <a:prstDash val="solid"/>
          </a:ln>
        </p:spPr>
        <p:txBody>
          <a:bodyPr/>
          <a:lstStyle/>
          <a:p>
            <a:endParaRPr lang="vi-VN"/>
          </a:p>
        </p:txBody>
      </p:sp>
      <p:sp>
        <p:nvSpPr>
          <p:cNvPr id="3" name="Text 1"/>
          <p:cNvSpPr/>
          <p:nvPr/>
        </p:nvSpPr>
        <p:spPr>
          <a:xfrm>
            <a:off x="731520" y="320040"/>
            <a:ext cx="6400800" cy="274320"/>
          </a:xfrm>
          <a:prstGeom prst="rect">
            <a:avLst/>
          </a:prstGeom>
          <a:noFill/>
          <a:ln/>
        </p:spPr>
        <p:txBody>
          <a:bodyPr wrap="square" rtlCol="0" anchor="ctr"/>
          <a:lstStyle/>
          <a:p>
            <a:pPr marL="0" indent="0">
              <a:buNone/>
            </a:pPr>
            <a:r>
              <a:rPr lang="en-US" sz="1000" b="1" dirty="0">
                <a:solidFill>
                  <a:srgbClr val="DC2626"/>
                </a:solidFill>
                <a:latin typeface="Segoe UI" pitchFamily="34" charset="0"/>
                <a:ea typeface="Segoe UI" pitchFamily="34" charset="-122"/>
                <a:cs typeface="Segoe UI" pitchFamily="34" charset="-120"/>
              </a:rPr>
              <a:t>02. GIẢI PHÁP</a:t>
            </a:r>
            <a:endParaRPr lang="en-US" sz="1000" dirty="0"/>
          </a:p>
        </p:txBody>
      </p:sp>
      <p:sp>
        <p:nvSpPr>
          <p:cNvPr id="4" name="Text 2"/>
          <p:cNvSpPr/>
          <p:nvPr/>
        </p:nvSpPr>
        <p:spPr>
          <a:xfrm>
            <a:off x="731520" y="594360"/>
            <a:ext cx="6858000" cy="457200"/>
          </a:xfrm>
          <a:prstGeom prst="rect">
            <a:avLst/>
          </a:prstGeom>
          <a:noFill/>
          <a:ln/>
        </p:spPr>
        <p:txBody>
          <a:bodyPr wrap="square" rtlCol="0" anchor="ctr"/>
          <a:lstStyle/>
          <a:p>
            <a:pPr marL="0" indent="0">
              <a:buNone/>
            </a:pPr>
            <a:r>
              <a:rPr lang="en-US" sz="2200" b="1" dirty="0">
                <a:solidFill>
                  <a:srgbClr val="1E3A8A"/>
                </a:solidFill>
                <a:latin typeface="Segoe UI" pitchFamily="34" charset="0"/>
                <a:ea typeface="Segoe UI" pitchFamily="34" charset="-122"/>
                <a:cs typeface="Segoe UI" pitchFamily="34" charset="-120"/>
              </a:rPr>
              <a:t>GiaLai Travel - Hệ Sinh Thái Du Lịch Số Bản Địa "All-in-One"</a:t>
            </a:r>
            <a:endParaRPr lang="en-US" sz="2200" dirty="0"/>
          </a:p>
        </p:txBody>
      </p:sp>
      <p:sp>
        <p:nvSpPr>
          <p:cNvPr id="5" name="Text 3"/>
          <p:cNvSpPr/>
          <p:nvPr/>
        </p:nvSpPr>
        <p:spPr>
          <a:xfrm>
            <a:off x="6217920" y="320040"/>
            <a:ext cx="2194560" cy="274320"/>
          </a:xfrm>
          <a:prstGeom prst="rect">
            <a:avLst/>
          </a:prstGeom>
          <a:noFill/>
          <a:ln/>
        </p:spPr>
        <p:txBody>
          <a:bodyPr wrap="square" rtlCol="0" anchor="ctr"/>
          <a:lstStyle/>
          <a:p>
            <a:pPr marL="0" indent="0" algn="r">
              <a:buNone/>
            </a:pPr>
            <a:r>
              <a:rPr lang="en-US" sz="900" dirty="0">
                <a:solidFill>
                  <a:srgbClr val="475569"/>
                </a:solidFill>
                <a:latin typeface="Segoe UI" pitchFamily="34" charset="0"/>
                <a:ea typeface="Segoe UI" pitchFamily="34" charset="-122"/>
                <a:cs typeface="Segoe UI" pitchFamily="34" charset="-120"/>
              </a:rPr>
              <a:t>3 | GiaLai Travel Pitch Deck</a:t>
            </a:r>
            <a:endParaRPr lang="en-US" sz="900" dirty="0"/>
          </a:p>
        </p:txBody>
      </p:sp>
      <p:sp>
        <p:nvSpPr>
          <p:cNvPr id="6" name="Shape 4"/>
          <p:cNvSpPr/>
          <p:nvPr/>
        </p:nvSpPr>
        <p:spPr>
          <a:xfrm>
            <a:off x="731520" y="1097280"/>
            <a:ext cx="7680960" cy="0"/>
          </a:xfrm>
          <a:prstGeom prst="line">
            <a:avLst/>
          </a:prstGeom>
          <a:noFill/>
          <a:ln w="19050">
            <a:solidFill>
              <a:srgbClr val="E2E8F0"/>
            </a:solidFill>
            <a:prstDash val="solid"/>
          </a:ln>
        </p:spPr>
        <p:txBody>
          <a:bodyPr/>
          <a:lstStyle/>
          <a:p>
            <a:endParaRPr lang="vi-VN"/>
          </a:p>
        </p:txBody>
      </p:sp>
      <p:sp>
        <p:nvSpPr>
          <p:cNvPr id="7" name="Shape 5"/>
          <p:cNvSpPr/>
          <p:nvPr/>
        </p:nvSpPr>
        <p:spPr>
          <a:xfrm>
            <a:off x="731520" y="1325880"/>
            <a:ext cx="1874520" cy="3429000"/>
          </a:xfrm>
          <a:prstGeom prst="roundRect">
            <a:avLst>
              <a:gd name="adj" fmla="val 5854"/>
            </a:avLst>
          </a:prstGeom>
          <a:solidFill>
            <a:srgbClr val="FFFFFF"/>
          </a:solidFill>
          <a:ln w="25400">
            <a:solidFill>
              <a:srgbClr val="0047AB"/>
            </a:solidFill>
            <a:prstDash val="solid"/>
          </a:ln>
        </p:spPr>
        <p:txBody>
          <a:bodyPr/>
          <a:lstStyle/>
          <a:p>
            <a:endParaRPr lang="vi-VN"/>
          </a:p>
        </p:txBody>
      </p:sp>
      <p:sp>
        <p:nvSpPr>
          <p:cNvPr id="8" name="Shape 6"/>
          <p:cNvSpPr/>
          <p:nvPr/>
        </p:nvSpPr>
        <p:spPr>
          <a:xfrm>
            <a:off x="731520" y="1325880"/>
            <a:ext cx="1874520" cy="411480"/>
          </a:xfrm>
          <a:prstGeom prst="rect">
            <a:avLst/>
          </a:prstGeom>
          <a:solidFill>
            <a:srgbClr val="0047AB"/>
          </a:solidFill>
          <a:ln/>
        </p:spPr>
        <p:txBody>
          <a:bodyPr/>
          <a:lstStyle/>
          <a:p>
            <a:endParaRPr lang="vi-VN"/>
          </a:p>
        </p:txBody>
      </p:sp>
      <p:sp>
        <p:nvSpPr>
          <p:cNvPr id="9" name="Text 7"/>
          <p:cNvSpPr/>
          <p:nvPr/>
        </p:nvSpPr>
        <p:spPr>
          <a:xfrm>
            <a:off x="731520" y="1325880"/>
            <a:ext cx="1874520" cy="411480"/>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TRỤ CỘT 01</a:t>
            </a:r>
            <a:endParaRPr lang="en-US" sz="1100" dirty="0"/>
          </a:p>
        </p:txBody>
      </p:sp>
      <p:sp>
        <p:nvSpPr>
          <p:cNvPr id="10" name="Text 8"/>
          <p:cNvSpPr/>
          <p:nvPr/>
        </p:nvSpPr>
        <p:spPr>
          <a:xfrm>
            <a:off x="822960" y="1828800"/>
            <a:ext cx="1691640" cy="594360"/>
          </a:xfrm>
          <a:prstGeom prst="rect">
            <a:avLst/>
          </a:prstGeom>
          <a:noFill/>
          <a:ln/>
        </p:spPr>
        <p:txBody>
          <a:bodyPr wrap="square" rtlCol="0" anchor="ctr"/>
          <a:lstStyle/>
          <a:p>
            <a:pPr marL="0" indent="0" algn="ctr">
              <a:buNone/>
            </a:pPr>
            <a:r>
              <a:rPr lang="en-US" sz="1200" b="1" dirty="0">
                <a:solidFill>
                  <a:srgbClr val="1E3A8A"/>
                </a:solidFill>
                <a:latin typeface="Segoe UI" pitchFamily="34" charset="0"/>
                <a:ea typeface="Segoe UI" pitchFamily="34" charset="-122"/>
                <a:cs typeface="Segoe UI" pitchFamily="34" charset="-120"/>
              </a:rPr>
              <a:t>Trí Tuệ Nhân Tạo (AI) Lập Lịch Trình</a:t>
            </a:r>
            <a:endParaRPr lang="en-US" sz="1200" dirty="0"/>
          </a:p>
        </p:txBody>
      </p:sp>
      <p:sp>
        <p:nvSpPr>
          <p:cNvPr id="11" name="Text 9"/>
          <p:cNvSpPr/>
          <p:nvPr/>
        </p:nvSpPr>
        <p:spPr>
          <a:xfrm>
            <a:off x="822960" y="2468880"/>
            <a:ext cx="1691640" cy="2148840"/>
          </a:xfrm>
          <a:prstGeom prst="rect">
            <a:avLst/>
          </a:prstGeom>
          <a:noFill/>
          <a:ln/>
        </p:spPr>
        <p:txBody>
          <a:bodyPr wrap="square" rtlCol="0" anchor="ctr"/>
          <a:lstStyle/>
          <a:p>
            <a:pPr marL="0" indent="0">
              <a:buNone/>
            </a:pPr>
            <a:r>
              <a:rPr lang="en-US" sz="950" dirty="0">
                <a:solidFill>
                  <a:srgbClr val="0F172A"/>
                </a:solidFill>
                <a:latin typeface="Segoe UI" pitchFamily="34" charset="0"/>
                <a:ea typeface="Segoe UI" pitchFamily="34" charset="-122"/>
                <a:cs typeface="Segoe UI" pitchFamily="34" charset="-120"/>
              </a:rPr>
              <a:t>• Tự động sinh lịch trình chi tiết theo ngân sách (VND), số ngày, số khách.
• Cân bằng nhịp độ di chuyển: Thong thả (2-3 điểm/ngày), Cân bằng, Năng động.
• Hiểu văn hóa bản địa: gợi ý quán ăn sáng phở hai tô, cà phê Pleiku, hoàng hôn Biển Hồ.
</a:t>
            </a:r>
            <a:endParaRPr lang="en-US" sz="950" dirty="0"/>
          </a:p>
        </p:txBody>
      </p:sp>
      <p:sp>
        <p:nvSpPr>
          <p:cNvPr id="12" name="Shape 10"/>
          <p:cNvSpPr/>
          <p:nvPr/>
        </p:nvSpPr>
        <p:spPr>
          <a:xfrm>
            <a:off x="2724912" y="1325880"/>
            <a:ext cx="1874520" cy="3429000"/>
          </a:xfrm>
          <a:prstGeom prst="roundRect">
            <a:avLst>
              <a:gd name="adj" fmla="val 5854"/>
            </a:avLst>
          </a:prstGeom>
          <a:solidFill>
            <a:srgbClr val="FFFFFF"/>
          </a:solidFill>
          <a:ln w="25400">
            <a:solidFill>
              <a:srgbClr val="DC2626"/>
            </a:solidFill>
            <a:prstDash val="solid"/>
          </a:ln>
        </p:spPr>
        <p:txBody>
          <a:bodyPr/>
          <a:lstStyle/>
          <a:p>
            <a:endParaRPr lang="vi-VN"/>
          </a:p>
        </p:txBody>
      </p:sp>
      <p:sp>
        <p:nvSpPr>
          <p:cNvPr id="13" name="Shape 11"/>
          <p:cNvSpPr/>
          <p:nvPr/>
        </p:nvSpPr>
        <p:spPr>
          <a:xfrm>
            <a:off x="2724912" y="1325880"/>
            <a:ext cx="1874520" cy="411480"/>
          </a:xfrm>
          <a:prstGeom prst="rect">
            <a:avLst/>
          </a:prstGeom>
          <a:solidFill>
            <a:srgbClr val="DC2626"/>
          </a:solidFill>
          <a:ln/>
        </p:spPr>
        <p:txBody>
          <a:bodyPr/>
          <a:lstStyle/>
          <a:p>
            <a:endParaRPr lang="vi-VN"/>
          </a:p>
        </p:txBody>
      </p:sp>
      <p:sp>
        <p:nvSpPr>
          <p:cNvPr id="14" name="Text 12"/>
          <p:cNvSpPr/>
          <p:nvPr/>
        </p:nvSpPr>
        <p:spPr>
          <a:xfrm>
            <a:off x="2724912" y="1325880"/>
            <a:ext cx="1874520" cy="411480"/>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TRỤ CỘT 02</a:t>
            </a:r>
            <a:endParaRPr lang="en-US" sz="1100" dirty="0"/>
          </a:p>
        </p:txBody>
      </p:sp>
      <p:sp>
        <p:nvSpPr>
          <p:cNvPr id="15" name="Text 13"/>
          <p:cNvSpPr/>
          <p:nvPr/>
        </p:nvSpPr>
        <p:spPr>
          <a:xfrm>
            <a:off x="2816352" y="1828800"/>
            <a:ext cx="1691640" cy="594360"/>
          </a:xfrm>
          <a:prstGeom prst="rect">
            <a:avLst/>
          </a:prstGeom>
          <a:noFill/>
          <a:ln/>
        </p:spPr>
        <p:txBody>
          <a:bodyPr wrap="square" rtlCol="0" anchor="ctr"/>
          <a:lstStyle/>
          <a:p>
            <a:pPr marL="0" indent="0" algn="ctr">
              <a:buNone/>
            </a:pPr>
            <a:r>
              <a:rPr lang="en-US" sz="1200" b="1" dirty="0">
                <a:solidFill>
                  <a:srgbClr val="1E3A8A"/>
                </a:solidFill>
                <a:latin typeface="Segoe UI" pitchFamily="34" charset="0"/>
                <a:ea typeface="Segoe UI" pitchFamily="34" charset="-122"/>
                <a:cs typeface="Segoe UI" pitchFamily="34" charset="-120"/>
              </a:rPr>
              <a:t>Kiến Trúc Ngoại Tuyến (Offline-First)</a:t>
            </a:r>
            <a:endParaRPr lang="en-US" sz="1200" dirty="0"/>
          </a:p>
        </p:txBody>
      </p:sp>
      <p:sp>
        <p:nvSpPr>
          <p:cNvPr id="16" name="Text 14"/>
          <p:cNvSpPr/>
          <p:nvPr/>
        </p:nvSpPr>
        <p:spPr>
          <a:xfrm>
            <a:off x="2816352" y="2468880"/>
            <a:ext cx="1691640" cy="2148840"/>
          </a:xfrm>
          <a:prstGeom prst="rect">
            <a:avLst/>
          </a:prstGeom>
          <a:noFill/>
          <a:ln/>
        </p:spPr>
        <p:txBody>
          <a:bodyPr wrap="square" rtlCol="0" anchor="ctr"/>
          <a:lstStyle/>
          <a:p>
            <a:pPr marL="0" indent="0">
              <a:buNone/>
            </a:pPr>
            <a:r>
              <a:rPr lang="en-US" sz="950" dirty="0">
                <a:solidFill>
                  <a:srgbClr val="0F172A"/>
                </a:solidFill>
                <a:latin typeface="Segoe UI" pitchFamily="34" charset="0"/>
                <a:ea typeface="Segoe UI" pitchFamily="34" charset="-122"/>
                <a:cs typeface="Segoe UI" pitchFamily="34" charset="-120"/>
              </a:rPr>
              <a:t>• Lưu trữ toàn bộ cẩm nang điểm đến và lịch trình chuyến đi vào Local Storage / Cache.
• Du khách vẫn tra cứu lộ trình, địa chỉ, lưu ý an toàn khi vào rừng sâu, thác K50 mất sóng.
• Tự động đồng bộ ngay khi thiết bị kết nối mạng trở lại.
</a:t>
            </a:r>
            <a:endParaRPr lang="en-US" sz="950" dirty="0"/>
          </a:p>
        </p:txBody>
      </p:sp>
      <p:sp>
        <p:nvSpPr>
          <p:cNvPr id="17" name="Shape 15"/>
          <p:cNvSpPr/>
          <p:nvPr/>
        </p:nvSpPr>
        <p:spPr>
          <a:xfrm>
            <a:off x="4718304" y="1325880"/>
            <a:ext cx="1874520" cy="3429000"/>
          </a:xfrm>
          <a:prstGeom prst="roundRect">
            <a:avLst>
              <a:gd name="adj" fmla="val 5854"/>
            </a:avLst>
          </a:prstGeom>
          <a:solidFill>
            <a:srgbClr val="FFFFFF"/>
          </a:solidFill>
          <a:ln w="25400">
            <a:solidFill>
              <a:srgbClr val="1E3A8A"/>
            </a:solidFill>
            <a:prstDash val="solid"/>
          </a:ln>
        </p:spPr>
        <p:txBody>
          <a:bodyPr/>
          <a:lstStyle/>
          <a:p>
            <a:endParaRPr lang="vi-VN"/>
          </a:p>
        </p:txBody>
      </p:sp>
      <p:sp>
        <p:nvSpPr>
          <p:cNvPr id="18" name="Shape 16"/>
          <p:cNvSpPr/>
          <p:nvPr/>
        </p:nvSpPr>
        <p:spPr>
          <a:xfrm>
            <a:off x="4718304" y="1325880"/>
            <a:ext cx="1874520" cy="411480"/>
          </a:xfrm>
          <a:prstGeom prst="rect">
            <a:avLst/>
          </a:prstGeom>
          <a:solidFill>
            <a:srgbClr val="1E3A8A"/>
          </a:solidFill>
          <a:ln/>
        </p:spPr>
        <p:txBody>
          <a:bodyPr/>
          <a:lstStyle/>
          <a:p>
            <a:endParaRPr lang="vi-VN"/>
          </a:p>
        </p:txBody>
      </p:sp>
      <p:sp>
        <p:nvSpPr>
          <p:cNvPr id="19" name="Text 17"/>
          <p:cNvSpPr/>
          <p:nvPr/>
        </p:nvSpPr>
        <p:spPr>
          <a:xfrm>
            <a:off x="4718304" y="1325880"/>
            <a:ext cx="1874520" cy="411480"/>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TRỤ CỘT 03</a:t>
            </a:r>
            <a:endParaRPr lang="en-US" sz="1100" dirty="0"/>
          </a:p>
        </p:txBody>
      </p:sp>
      <p:sp>
        <p:nvSpPr>
          <p:cNvPr id="20" name="Text 18"/>
          <p:cNvSpPr/>
          <p:nvPr/>
        </p:nvSpPr>
        <p:spPr>
          <a:xfrm>
            <a:off x="4809744" y="1828800"/>
            <a:ext cx="1691640" cy="594360"/>
          </a:xfrm>
          <a:prstGeom prst="rect">
            <a:avLst/>
          </a:prstGeom>
          <a:noFill/>
          <a:ln/>
        </p:spPr>
        <p:txBody>
          <a:bodyPr wrap="square" rtlCol="0" anchor="ctr"/>
          <a:lstStyle/>
          <a:p>
            <a:pPr marL="0" indent="0" algn="ctr">
              <a:buNone/>
            </a:pPr>
            <a:r>
              <a:rPr lang="en-US" sz="1200" b="1" dirty="0">
                <a:solidFill>
                  <a:srgbClr val="1E3A8A"/>
                </a:solidFill>
                <a:latin typeface="Segoe UI" pitchFamily="34" charset="0"/>
                <a:ea typeface="Segoe UI" pitchFamily="34" charset="-122"/>
                <a:cs typeface="Segoe UI" pitchFamily="34" charset="-120"/>
              </a:rPr>
              <a:t>Số Hóa Văn Hóa &amp; Audio Thuyết Minh</a:t>
            </a:r>
            <a:endParaRPr lang="en-US" sz="1200" dirty="0"/>
          </a:p>
        </p:txBody>
      </p:sp>
      <p:sp>
        <p:nvSpPr>
          <p:cNvPr id="21" name="Text 19"/>
          <p:cNvSpPr/>
          <p:nvPr/>
        </p:nvSpPr>
        <p:spPr>
          <a:xfrm>
            <a:off x="4809744" y="2468880"/>
            <a:ext cx="1691640" cy="2148840"/>
          </a:xfrm>
          <a:prstGeom prst="rect">
            <a:avLst/>
          </a:prstGeom>
          <a:noFill/>
          <a:ln/>
        </p:spPr>
        <p:txBody>
          <a:bodyPr wrap="square" rtlCol="0" anchor="ctr"/>
          <a:lstStyle/>
          <a:p>
            <a:pPr marL="0" indent="0">
              <a:buNone/>
            </a:pPr>
            <a:r>
              <a:rPr lang="en-US" sz="950" dirty="0">
                <a:solidFill>
                  <a:srgbClr val="0F172A"/>
                </a:solidFill>
                <a:latin typeface="Segoe UI" pitchFamily="34" charset="0"/>
                <a:ea typeface="Segoe UI" pitchFamily="34" charset="-122"/>
                <a:cs typeface="Segoe UI" pitchFamily="34" charset="-120"/>
              </a:rPr>
              <a:t>• Kho dữ liệu chuẩn hóa về di tích lịch sử, danh lam thắng cảnh và lễ hội cồng chiêng.
• Thuyết minh Audio Guide sống động và cẩm nang giao tiếp từ vựng Jrai.
• Lịch sự kiện lễ hội thời gian thực (Lễ hội hoa dã quỳ, đua thuyền, cồng chiêng).
</a:t>
            </a:r>
            <a:endParaRPr lang="en-US" sz="950" dirty="0"/>
          </a:p>
        </p:txBody>
      </p:sp>
      <p:sp>
        <p:nvSpPr>
          <p:cNvPr id="22" name="Shape 20"/>
          <p:cNvSpPr/>
          <p:nvPr/>
        </p:nvSpPr>
        <p:spPr>
          <a:xfrm>
            <a:off x="6711696" y="1325880"/>
            <a:ext cx="1874520" cy="3429000"/>
          </a:xfrm>
          <a:prstGeom prst="roundRect">
            <a:avLst>
              <a:gd name="adj" fmla="val 5854"/>
            </a:avLst>
          </a:prstGeom>
          <a:solidFill>
            <a:srgbClr val="FFFFFF"/>
          </a:solidFill>
          <a:ln w="25400">
            <a:solidFill>
              <a:srgbClr val="991B1B"/>
            </a:solidFill>
            <a:prstDash val="solid"/>
          </a:ln>
        </p:spPr>
        <p:txBody>
          <a:bodyPr/>
          <a:lstStyle/>
          <a:p>
            <a:endParaRPr lang="vi-VN"/>
          </a:p>
        </p:txBody>
      </p:sp>
      <p:sp>
        <p:nvSpPr>
          <p:cNvPr id="23" name="Shape 21"/>
          <p:cNvSpPr/>
          <p:nvPr/>
        </p:nvSpPr>
        <p:spPr>
          <a:xfrm>
            <a:off x="6711696" y="1325880"/>
            <a:ext cx="1874520" cy="411480"/>
          </a:xfrm>
          <a:prstGeom prst="rect">
            <a:avLst/>
          </a:prstGeom>
          <a:solidFill>
            <a:srgbClr val="991B1B"/>
          </a:solidFill>
          <a:ln/>
        </p:spPr>
        <p:txBody>
          <a:bodyPr/>
          <a:lstStyle/>
          <a:p>
            <a:endParaRPr lang="vi-VN"/>
          </a:p>
        </p:txBody>
      </p:sp>
      <p:sp>
        <p:nvSpPr>
          <p:cNvPr id="24" name="Text 22"/>
          <p:cNvSpPr/>
          <p:nvPr/>
        </p:nvSpPr>
        <p:spPr>
          <a:xfrm>
            <a:off x="6711696" y="1325880"/>
            <a:ext cx="1874520" cy="411480"/>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TRỤ CỘT 04</a:t>
            </a:r>
            <a:endParaRPr lang="en-US" sz="1100" dirty="0"/>
          </a:p>
        </p:txBody>
      </p:sp>
      <p:sp>
        <p:nvSpPr>
          <p:cNvPr id="25" name="Text 23"/>
          <p:cNvSpPr/>
          <p:nvPr/>
        </p:nvSpPr>
        <p:spPr>
          <a:xfrm>
            <a:off x="6803136" y="1828800"/>
            <a:ext cx="1691640" cy="594360"/>
          </a:xfrm>
          <a:prstGeom prst="rect">
            <a:avLst/>
          </a:prstGeom>
          <a:noFill/>
          <a:ln/>
        </p:spPr>
        <p:txBody>
          <a:bodyPr wrap="square" rtlCol="0" anchor="ctr"/>
          <a:lstStyle/>
          <a:p>
            <a:pPr marL="0" indent="0" algn="ctr">
              <a:buNone/>
            </a:pPr>
            <a:r>
              <a:rPr lang="en-US" sz="1200" b="1" dirty="0">
                <a:solidFill>
                  <a:srgbClr val="1E3A8A"/>
                </a:solidFill>
                <a:latin typeface="Segoe UI" pitchFamily="34" charset="0"/>
                <a:ea typeface="Segoe UI" pitchFamily="34" charset="-122"/>
                <a:cs typeface="Segoe UI" pitchFamily="34" charset="-120"/>
              </a:rPr>
              <a:t>Kết Nối Trực Tiếp Cộng Đồng Bản Địa</a:t>
            </a:r>
            <a:endParaRPr lang="en-US" sz="1200" dirty="0"/>
          </a:p>
        </p:txBody>
      </p:sp>
      <p:sp>
        <p:nvSpPr>
          <p:cNvPr id="26" name="Text 24"/>
          <p:cNvSpPr/>
          <p:nvPr/>
        </p:nvSpPr>
        <p:spPr>
          <a:xfrm>
            <a:off x="6803136" y="2468880"/>
            <a:ext cx="1691640" cy="2148840"/>
          </a:xfrm>
          <a:prstGeom prst="rect">
            <a:avLst/>
          </a:prstGeom>
          <a:noFill/>
          <a:ln/>
        </p:spPr>
        <p:txBody>
          <a:bodyPr wrap="square" rtlCol="0" anchor="ctr"/>
          <a:lstStyle/>
          <a:p>
            <a:pPr marL="0" indent="0">
              <a:buNone/>
            </a:pPr>
            <a:r>
              <a:rPr lang="en-US" sz="950" dirty="0">
                <a:solidFill>
                  <a:srgbClr val="0F172A"/>
                </a:solidFill>
                <a:latin typeface="Segoe UI" pitchFamily="34" charset="0"/>
                <a:ea typeface="Segoe UI" pitchFamily="34" charset="-122"/>
                <a:cs typeface="Segoe UI" pitchFamily="34" charset="-120"/>
              </a:rPr>
              <a:t>• Đặt dịch vụ Homestay, thuê xe máy/ô tô, trải nghiệm tour bản địa dễ dàng.
• Phí hoa hồng chỉ 8-10% (tiết kiệm hơn 50% so với OTA ngoại).
• Nền tảng Web Responsive đa thiết bị (Mobile, Tablet, Desktop) không tốn bộ nhớ tải app.
</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C2626"/>
          </a:solidFill>
          <a:ln w="12700">
            <a:solidFill>
              <a:srgbClr val="DC2626"/>
            </a:solidFill>
            <a:prstDash val="solid"/>
          </a:ln>
        </p:spPr>
        <p:txBody>
          <a:bodyPr/>
          <a:lstStyle/>
          <a:p>
            <a:endParaRPr lang="vi-VN"/>
          </a:p>
        </p:txBody>
      </p:sp>
      <p:sp>
        <p:nvSpPr>
          <p:cNvPr id="3" name="Text 1"/>
          <p:cNvSpPr/>
          <p:nvPr/>
        </p:nvSpPr>
        <p:spPr>
          <a:xfrm>
            <a:off x="731520" y="320040"/>
            <a:ext cx="6400800" cy="274320"/>
          </a:xfrm>
          <a:prstGeom prst="rect">
            <a:avLst/>
          </a:prstGeom>
          <a:noFill/>
          <a:ln/>
        </p:spPr>
        <p:txBody>
          <a:bodyPr wrap="square" rtlCol="0" anchor="ctr"/>
          <a:lstStyle/>
          <a:p>
            <a:pPr marL="0" indent="0">
              <a:buNone/>
            </a:pPr>
            <a:r>
              <a:rPr lang="en-US" sz="1000" b="1" dirty="0">
                <a:solidFill>
                  <a:srgbClr val="DC2626"/>
                </a:solidFill>
                <a:latin typeface="Segoe UI" pitchFamily="34" charset="0"/>
                <a:ea typeface="Segoe UI" pitchFamily="34" charset="-122"/>
                <a:cs typeface="Segoe UI" pitchFamily="34" charset="-120"/>
              </a:rPr>
              <a:t>03. DEMO SẢN PHẨM</a:t>
            </a:r>
            <a:endParaRPr lang="en-US" sz="1000" dirty="0"/>
          </a:p>
        </p:txBody>
      </p:sp>
      <p:sp>
        <p:nvSpPr>
          <p:cNvPr id="4" name="Text 2"/>
          <p:cNvSpPr/>
          <p:nvPr/>
        </p:nvSpPr>
        <p:spPr>
          <a:xfrm>
            <a:off x="731520" y="594360"/>
            <a:ext cx="6858000" cy="457200"/>
          </a:xfrm>
          <a:prstGeom prst="rect">
            <a:avLst/>
          </a:prstGeom>
          <a:noFill/>
          <a:ln/>
        </p:spPr>
        <p:txBody>
          <a:bodyPr wrap="square" rtlCol="0" anchor="ctr"/>
          <a:lstStyle/>
          <a:p>
            <a:pPr marL="0" indent="0">
              <a:buNone/>
            </a:pPr>
            <a:r>
              <a:rPr lang="en-US" sz="2200" b="1" dirty="0">
                <a:solidFill>
                  <a:srgbClr val="1E3A8A"/>
                </a:solidFill>
                <a:latin typeface="Segoe UI" pitchFamily="34" charset="0"/>
                <a:ea typeface="Segoe UI" pitchFamily="34" charset="-122"/>
                <a:cs typeface="Segoe UI" pitchFamily="34" charset="-120"/>
              </a:rPr>
              <a:t>Khám Phá Điểm Đến Gia Lai Với Dữ Liệu Bản Địa Chuẩn Hóa</a:t>
            </a:r>
            <a:endParaRPr lang="en-US" sz="2200" dirty="0"/>
          </a:p>
        </p:txBody>
      </p:sp>
      <p:sp>
        <p:nvSpPr>
          <p:cNvPr id="5" name="Text 3"/>
          <p:cNvSpPr/>
          <p:nvPr/>
        </p:nvSpPr>
        <p:spPr>
          <a:xfrm>
            <a:off x="6217920" y="320040"/>
            <a:ext cx="2194560" cy="274320"/>
          </a:xfrm>
          <a:prstGeom prst="rect">
            <a:avLst/>
          </a:prstGeom>
          <a:noFill/>
          <a:ln/>
        </p:spPr>
        <p:txBody>
          <a:bodyPr wrap="square" rtlCol="0" anchor="ctr"/>
          <a:lstStyle/>
          <a:p>
            <a:pPr marL="0" indent="0" algn="r">
              <a:buNone/>
            </a:pPr>
            <a:r>
              <a:rPr lang="en-US" sz="900" dirty="0">
                <a:solidFill>
                  <a:srgbClr val="475569"/>
                </a:solidFill>
                <a:latin typeface="Segoe UI" pitchFamily="34" charset="0"/>
                <a:ea typeface="Segoe UI" pitchFamily="34" charset="-122"/>
                <a:cs typeface="Segoe UI" pitchFamily="34" charset="-120"/>
              </a:rPr>
              <a:t>4 | GiaLai Travel Pitch Deck</a:t>
            </a:r>
            <a:endParaRPr lang="en-US" sz="900" dirty="0"/>
          </a:p>
        </p:txBody>
      </p:sp>
      <p:sp>
        <p:nvSpPr>
          <p:cNvPr id="6" name="Shape 4"/>
          <p:cNvSpPr/>
          <p:nvPr/>
        </p:nvSpPr>
        <p:spPr>
          <a:xfrm>
            <a:off x="731520" y="1097280"/>
            <a:ext cx="7680960" cy="0"/>
          </a:xfrm>
          <a:prstGeom prst="line">
            <a:avLst/>
          </a:prstGeom>
          <a:noFill/>
          <a:ln w="19050">
            <a:solidFill>
              <a:srgbClr val="E2E8F0"/>
            </a:solidFill>
            <a:prstDash val="solid"/>
          </a:ln>
        </p:spPr>
        <p:txBody>
          <a:bodyPr/>
          <a:lstStyle/>
          <a:p>
            <a:endParaRPr lang="vi-VN"/>
          </a:p>
        </p:txBody>
      </p:sp>
      <p:sp>
        <p:nvSpPr>
          <p:cNvPr id="7" name="Shape 5"/>
          <p:cNvSpPr/>
          <p:nvPr/>
        </p:nvSpPr>
        <p:spPr>
          <a:xfrm>
            <a:off x="731520" y="1280160"/>
            <a:ext cx="2926080" cy="3474720"/>
          </a:xfrm>
          <a:prstGeom prst="roundRect">
            <a:avLst>
              <a:gd name="adj" fmla="val 3125"/>
            </a:avLst>
          </a:prstGeom>
          <a:solidFill>
            <a:srgbClr val="F8FAFC"/>
          </a:solidFill>
          <a:ln w="12700">
            <a:solidFill>
              <a:srgbClr val="CBD5E1"/>
            </a:solidFill>
            <a:prstDash val="solid"/>
          </a:ln>
        </p:spPr>
        <p:txBody>
          <a:bodyPr/>
          <a:lstStyle/>
          <a:p>
            <a:endParaRPr lang="vi-VN"/>
          </a:p>
        </p:txBody>
      </p:sp>
      <p:sp>
        <p:nvSpPr>
          <p:cNvPr id="8" name="Text 6"/>
          <p:cNvSpPr/>
          <p:nvPr/>
        </p:nvSpPr>
        <p:spPr>
          <a:xfrm>
            <a:off x="914400" y="1417320"/>
            <a:ext cx="2560320" cy="274320"/>
          </a:xfrm>
          <a:prstGeom prst="rect">
            <a:avLst/>
          </a:prstGeom>
          <a:noFill/>
          <a:ln/>
        </p:spPr>
        <p:txBody>
          <a:bodyPr wrap="square" rtlCol="0" anchor="ctr"/>
          <a:lstStyle/>
          <a:p>
            <a:pPr marL="0" indent="0">
              <a:buNone/>
            </a:pPr>
            <a:r>
              <a:rPr lang="en-US" sz="1100" b="1" dirty="0">
                <a:solidFill>
                  <a:srgbClr val="DC2626"/>
                </a:solidFill>
                <a:latin typeface="Segoe UI" pitchFamily="34" charset="0"/>
                <a:ea typeface="Segoe UI" pitchFamily="34" charset="-122"/>
                <a:cs typeface="Segoe UI" pitchFamily="34" charset="-120"/>
              </a:rPr>
              <a:t>TÍNH NĂNG KHÁM PHÁ (EXPLORE)</a:t>
            </a:r>
            <a:endParaRPr lang="en-US" sz="1100" dirty="0"/>
          </a:p>
        </p:txBody>
      </p:sp>
      <p:sp>
        <p:nvSpPr>
          <p:cNvPr id="9" name="Text 7"/>
          <p:cNvSpPr/>
          <p:nvPr/>
        </p:nvSpPr>
        <p:spPr>
          <a:xfrm>
            <a:off x="914400" y="1691640"/>
            <a:ext cx="2560320" cy="457200"/>
          </a:xfrm>
          <a:prstGeom prst="rect">
            <a:avLst/>
          </a:prstGeom>
          <a:noFill/>
          <a:ln/>
        </p:spPr>
        <p:txBody>
          <a:bodyPr wrap="square" rtlCol="0" anchor="ctr"/>
          <a:lstStyle/>
          <a:p>
            <a:pPr marL="0" indent="0">
              <a:buNone/>
            </a:pPr>
            <a:r>
              <a:rPr lang="en-US" sz="1400" b="1" dirty="0">
                <a:solidFill>
                  <a:srgbClr val="1E3A8A"/>
                </a:solidFill>
                <a:latin typeface="Segoe UI" pitchFamily="34" charset="0"/>
                <a:ea typeface="Segoe UI" pitchFamily="34" charset="-122"/>
                <a:cs typeface="Segoe UI" pitchFamily="34" charset="-120"/>
              </a:rPr>
              <a:t>Trải nghiệm duyệt điểm đến chuẩn xác từng km</a:t>
            </a:r>
            <a:endParaRPr lang="en-US" sz="1400" dirty="0"/>
          </a:p>
        </p:txBody>
      </p:sp>
      <p:sp>
        <p:nvSpPr>
          <p:cNvPr id="10" name="Text 8"/>
          <p:cNvSpPr/>
          <p:nvPr/>
        </p:nvSpPr>
        <p:spPr>
          <a:xfrm>
            <a:off x="914400" y="2194560"/>
            <a:ext cx="2560320" cy="2377440"/>
          </a:xfrm>
          <a:prstGeom prst="rect">
            <a:avLst/>
          </a:prstGeom>
          <a:noFill/>
          <a:ln/>
        </p:spPr>
        <p:txBody>
          <a:bodyPr wrap="square" rtlCol="0" anchor="ctr"/>
          <a:lstStyle/>
          <a:p>
            <a:pPr marL="0" indent="0">
              <a:buNone/>
            </a:pPr>
            <a:r>
              <a:rPr lang="en-US" sz="1000" b="1" dirty="0">
                <a:solidFill>
                  <a:srgbClr val="0047AB"/>
                </a:solidFill>
                <a:latin typeface="Segoe UI" pitchFamily="34" charset="0"/>
                <a:ea typeface="Segoe UI" pitchFamily="34" charset="-122"/>
                <a:cs typeface="Segoe UI" pitchFamily="34" charset="-120"/>
              </a:rPr>
              <a:t>✓ Dữ liệu phong phú: </a:t>
            </a:r>
            <a:r>
              <a:rPr lang="en-US" sz="1000" dirty="0">
                <a:solidFill>
                  <a:srgbClr val="0F172A"/>
                </a:solidFill>
                <a:latin typeface="Segoe UI" pitchFamily="34" charset="0"/>
                <a:ea typeface="Segoe UI" pitchFamily="34" charset="-122"/>
                <a:cs typeface="Segoe UI" pitchFamily="34" charset="-120"/>
              </a:rPr>
              <a:t>Biển Hồ T'Nưng, Núi lửa Chư Đăng Ya, Thác Phú Cường, Chùa Minh Thành, Thác K50...
</a:t>
            </a:r>
            <a:r>
              <a:rPr lang="en-US" sz="1000" b="1" dirty="0">
                <a:solidFill>
                  <a:srgbClr val="0047AB"/>
                </a:solidFill>
                <a:latin typeface="Segoe UI" pitchFamily="34" charset="0"/>
                <a:ea typeface="Segoe UI" pitchFamily="34" charset="-122"/>
                <a:cs typeface="Segoe UI" pitchFamily="34" charset="-120"/>
              </a:rPr>
              <a:t>✓ Bộ lọc đa tầng: </a:t>
            </a:r>
            <a:r>
              <a:rPr lang="en-US" sz="1000" dirty="0">
                <a:solidFill>
                  <a:srgbClr val="0F172A"/>
                </a:solidFill>
                <a:latin typeface="Segoe UI" pitchFamily="34" charset="0"/>
                <a:ea typeface="Segoe UI" pitchFamily="34" charset="-122"/>
                <a:cs typeface="Segoe UI" pitchFamily="34" charset="-120"/>
              </a:rPr>
              <a:t>Lọc theo danh mục (Thiên nhiên, Văn hóa, Ẩm thực), khu vực hành chính (Pleiku, Chư Păh, Kbang...).
</a:t>
            </a:r>
            <a:r>
              <a:rPr lang="en-US" sz="1000" b="1" dirty="0">
                <a:solidFill>
                  <a:srgbClr val="0047AB"/>
                </a:solidFill>
                <a:latin typeface="Segoe UI" pitchFamily="34" charset="0"/>
                <a:ea typeface="Segoe UI" pitchFamily="34" charset="-122"/>
                <a:cs typeface="Segoe UI" pitchFamily="34" charset="-120"/>
              </a:rPr>
              <a:t>✓ Thêm nhanh vào chuyến đi: </a:t>
            </a:r>
            <a:r>
              <a:rPr lang="en-US" sz="1000" dirty="0">
                <a:solidFill>
                  <a:srgbClr val="0F172A"/>
                </a:solidFill>
                <a:latin typeface="Segoe UI" pitchFamily="34" charset="0"/>
                <a:ea typeface="Segoe UI" pitchFamily="34" charset="-122"/>
                <a:cs typeface="Segoe UI" pitchFamily="34" charset="-120"/>
              </a:rPr>
              <a:t>Người dùng chỉ cần 1 click để đưa POI yêu thích vào Bản nháp chuyến đi của mình.
</a:t>
            </a:r>
            <a:r>
              <a:rPr lang="en-US" sz="1000" b="1" dirty="0">
                <a:solidFill>
                  <a:srgbClr val="DC2626"/>
                </a:solidFill>
                <a:latin typeface="Segoe UI" pitchFamily="34" charset="0"/>
                <a:ea typeface="Segoe UI" pitchFamily="34" charset="-122"/>
                <a:cs typeface="Segoe UI" pitchFamily="34" charset="-120"/>
              </a:rPr>
              <a:t>✓ Web Link: </a:t>
            </a:r>
            <a:r>
              <a:rPr lang="en-US" sz="1000" dirty="0">
                <a:solidFill>
                  <a:srgbClr val="0F172A"/>
                </a:solidFill>
                <a:latin typeface="Segoe UI" pitchFamily="34" charset="0"/>
                <a:ea typeface="Segoe UI" pitchFamily="34" charset="-122"/>
                <a:cs typeface="Segoe UI" pitchFamily="34" charset="-120"/>
              </a:rPr>
              <a:t>gialaitravel.yangkleeserver.io.vn/explore</a:t>
            </a:r>
            <a:endParaRPr lang="en-US" sz="1000" dirty="0"/>
          </a:p>
        </p:txBody>
      </p:sp>
      <p:pic>
        <p:nvPicPr>
          <p:cNvPr id="18" name="Picture 17">
            <a:extLst>
              <a:ext uri="{FF2B5EF4-FFF2-40B4-BE49-F238E27FC236}">
                <a16:creationId xmlns:a16="http://schemas.microsoft.com/office/drawing/2014/main" id="{8FF72871-5F52-F3BB-378D-9F3C84F616A4}"/>
              </a:ext>
            </a:extLst>
          </p:cNvPr>
          <p:cNvPicPr>
            <a:picLocks noChangeAspect="1"/>
          </p:cNvPicPr>
          <p:nvPr/>
        </p:nvPicPr>
        <p:blipFill>
          <a:blip r:embed="rId3"/>
          <a:stretch>
            <a:fillRect/>
          </a:stretch>
        </p:blipFill>
        <p:spPr>
          <a:xfrm>
            <a:off x="4062984" y="1166207"/>
            <a:ext cx="1745767" cy="3657253"/>
          </a:xfrm>
          <a:prstGeom prst="rect">
            <a:avLst/>
          </a:prstGeom>
        </p:spPr>
      </p:pic>
      <p:pic>
        <p:nvPicPr>
          <p:cNvPr id="20" name="Picture 19">
            <a:extLst>
              <a:ext uri="{FF2B5EF4-FFF2-40B4-BE49-F238E27FC236}">
                <a16:creationId xmlns:a16="http://schemas.microsoft.com/office/drawing/2014/main" id="{ABEC711C-16D9-F9AA-40EE-CCB07438E9CD}"/>
              </a:ext>
            </a:extLst>
          </p:cNvPr>
          <p:cNvPicPr>
            <a:picLocks noChangeAspect="1"/>
          </p:cNvPicPr>
          <p:nvPr/>
        </p:nvPicPr>
        <p:blipFill>
          <a:blip r:embed="rId4"/>
          <a:stretch>
            <a:fillRect/>
          </a:stretch>
        </p:blipFill>
        <p:spPr>
          <a:xfrm>
            <a:off x="6034793" y="1192877"/>
            <a:ext cx="1650247" cy="367923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C2626"/>
          </a:solidFill>
          <a:ln w="12700">
            <a:solidFill>
              <a:srgbClr val="DC2626"/>
            </a:solidFill>
            <a:prstDash val="solid"/>
          </a:ln>
        </p:spPr>
        <p:txBody>
          <a:bodyPr/>
          <a:lstStyle/>
          <a:p>
            <a:endParaRPr lang="vi-VN"/>
          </a:p>
        </p:txBody>
      </p:sp>
      <p:sp>
        <p:nvSpPr>
          <p:cNvPr id="3" name="Text 1"/>
          <p:cNvSpPr/>
          <p:nvPr/>
        </p:nvSpPr>
        <p:spPr>
          <a:xfrm>
            <a:off x="731520" y="320040"/>
            <a:ext cx="6400800" cy="274320"/>
          </a:xfrm>
          <a:prstGeom prst="rect">
            <a:avLst/>
          </a:prstGeom>
          <a:noFill/>
          <a:ln/>
        </p:spPr>
        <p:txBody>
          <a:bodyPr wrap="square" rtlCol="0" anchor="ctr"/>
          <a:lstStyle/>
          <a:p>
            <a:pPr marL="0" indent="0">
              <a:buNone/>
            </a:pPr>
            <a:r>
              <a:rPr lang="en-US" sz="1000" b="1" dirty="0">
                <a:solidFill>
                  <a:srgbClr val="DC2626"/>
                </a:solidFill>
                <a:latin typeface="Segoe UI" pitchFamily="34" charset="0"/>
                <a:ea typeface="Segoe UI" pitchFamily="34" charset="-122"/>
                <a:cs typeface="Segoe UI" pitchFamily="34" charset="-120"/>
              </a:rPr>
              <a:t>04. TRỌNG TÂM CÔNG NGHỆ</a:t>
            </a:r>
            <a:endParaRPr lang="en-US" sz="1000" dirty="0"/>
          </a:p>
        </p:txBody>
      </p:sp>
      <p:sp>
        <p:nvSpPr>
          <p:cNvPr id="4" name="Text 2"/>
          <p:cNvSpPr/>
          <p:nvPr/>
        </p:nvSpPr>
        <p:spPr>
          <a:xfrm>
            <a:off x="731520" y="594360"/>
            <a:ext cx="6858000" cy="457200"/>
          </a:xfrm>
          <a:prstGeom prst="rect">
            <a:avLst/>
          </a:prstGeom>
          <a:noFill/>
          <a:ln/>
        </p:spPr>
        <p:txBody>
          <a:bodyPr wrap="square" rtlCol="0" anchor="ctr"/>
          <a:lstStyle/>
          <a:p>
            <a:pPr marL="0" indent="0">
              <a:buNone/>
            </a:pPr>
            <a:r>
              <a:rPr lang="en-US" sz="2200" b="1" dirty="0">
                <a:solidFill>
                  <a:srgbClr val="1E3A8A"/>
                </a:solidFill>
                <a:latin typeface="Segoe UI" pitchFamily="34" charset="0"/>
                <a:ea typeface="Segoe UI" pitchFamily="34" charset="-122"/>
                <a:cs typeface="Segoe UI" pitchFamily="34" charset="-120"/>
              </a:rPr>
              <a:t>Trợ Lý AI Lập Lịch Trình Tự Động Theo Nhu Cầu Thực Tế</a:t>
            </a:r>
            <a:endParaRPr lang="en-US" sz="2200" dirty="0"/>
          </a:p>
        </p:txBody>
      </p:sp>
      <p:sp>
        <p:nvSpPr>
          <p:cNvPr id="5" name="Text 3"/>
          <p:cNvSpPr/>
          <p:nvPr/>
        </p:nvSpPr>
        <p:spPr>
          <a:xfrm>
            <a:off x="6217920" y="320040"/>
            <a:ext cx="2194560" cy="274320"/>
          </a:xfrm>
          <a:prstGeom prst="rect">
            <a:avLst/>
          </a:prstGeom>
          <a:noFill/>
          <a:ln/>
        </p:spPr>
        <p:txBody>
          <a:bodyPr wrap="square" rtlCol="0" anchor="ctr"/>
          <a:lstStyle/>
          <a:p>
            <a:pPr marL="0" indent="0" algn="r">
              <a:buNone/>
            </a:pPr>
            <a:r>
              <a:rPr lang="en-US" sz="900" dirty="0">
                <a:solidFill>
                  <a:srgbClr val="475569"/>
                </a:solidFill>
                <a:latin typeface="Segoe UI" pitchFamily="34" charset="0"/>
                <a:ea typeface="Segoe UI" pitchFamily="34" charset="-122"/>
                <a:cs typeface="Segoe UI" pitchFamily="34" charset="-120"/>
              </a:rPr>
              <a:t>5 | GiaLai Travel Pitch Deck</a:t>
            </a:r>
            <a:endParaRPr lang="en-US" sz="900" dirty="0"/>
          </a:p>
        </p:txBody>
      </p:sp>
      <p:sp>
        <p:nvSpPr>
          <p:cNvPr id="6" name="Shape 4"/>
          <p:cNvSpPr/>
          <p:nvPr/>
        </p:nvSpPr>
        <p:spPr>
          <a:xfrm>
            <a:off x="731520" y="1097280"/>
            <a:ext cx="7680960" cy="0"/>
          </a:xfrm>
          <a:prstGeom prst="line">
            <a:avLst/>
          </a:prstGeom>
          <a:noFill/>
          <a:ln w="19050">
            <a:solidFill>
              <a:srgbClr val="E2E8F0"/>
            </a:solidFill>
            <a:prstDash val="solid"/>
          </a:ln>
        </p:spPr>
        <p:txBody>
          <a:bodyPr/>
          <a:lstStyle/>
          <a:p>
            <a:endParaRPr lang="vi-VN"/>
          </a:p>
        </p:txBody>
      </p:sp>
      <p:sp>
        <p:nvSpPr>
          <p:cNvPr id="7" name="Shape 5"/>
          <p:cNvSpPr/>
          <p:nvPr/>
        </p:nvSpPr>
        <p:spPr>
          <a:xfrm>
            <a:off x="5219700" y="1280160"/>
            <a:ext cx="3566160" cy="3474720"/>
          </a:xfrm>
          <a:prstGeom prst="roundRect">
            <a:avLst>
              <a:gd name="adj" fmla="val 2632"/>
            </a:avLst>
          </a:prstGeom>
          <a:solidFill>
            <a:srgbClr val="F8FAFC"/>
          </a:solidFill>
          <a:ln w="12700">
            <a:solidFill>
              <a:srgbClr val="CBD5E1"/>
            </a:solidFill>
            <a:prstDash val="solid"/>
          </a:ln>
        </p:spPr>
        <p:txBody>
          <a:bodyPr/>
          <a:lstStyle/>
          <a:p>
            <a:endParaRPr lang="vi-VN" dirty="0"/>
          </a:p>
        </p:txBody>
      </p:sp>
      <p:sp>
        <p:nvSpPr>
          <p:cNvPr id="8" name="Text 6"/>
          <p:cNvSpPr/>
          <p:nvPr/>
        </p:nvSpPr>
        <p:spPr>
          <a:xfrm>
            <a:off x="5402580" y="1417320"/>
            <a:ext cx="3200400" cy="274320"/>
          </a:xfrm>
          <a:prstGeom prst="rect">
            <a:avLst/>
          </a:prstGeom>
          <a:noFill/>
          <a:ln/>
        </p:spPr>
        <p:txBody>
          <a:bodyPr wrap="square" rtlCol="0" anchor="ctr"/>
          <a:lstStyle/>
          <a:p>
            <a:pPr marL="0" indent="0">
              <a:buNone/>
            </a:pPr>
            <a:r>
              <a:rPr lang="en-US" sz="1100" b="1" dirty="0">
                <a:solidFill>
                  <a:srgbClr val="DC2626"/>
                </a:solidFill>
                <a:latin typeface="Segoe UI" pitchFamily="34" charset="0"/>
                <a:ea typeface="Segoe UI" pitchFamily="34" charset="-122"/>
                <a:cs typeface="Segoe UI" pitchFamily="34" charset="-120"/>
              </a:rPr>
              <a:t>ĐIỂM ĐỘT PHÁ CỦA AI GIALAI TRAVEL</a:t>
            </a:r>
            <a:endParaRPr lang="en-US" sz="1100" dirty="0"/>
          </a:p>
        </p:txBody>
      </p:sp>
      <p:sp>
        <p:nvSpPr>
          <p:cNvPr id="9" name="Text 7"/>
          <p:cNvSpPr/>
          <p:nvPr/>
        </p:nvSpPr>
        <p:spPr>
          <a:xfrm>
            <a:off x="5402580" y="1737360"/>
            <a:ext cx="3200400" cy="2834640"/>
          </a:xfrm>
          <a:prstGeom prst="rect">
            <a:avLst/>
          </a:prstGeom>
          <a:noFill/>
          <a:ln/>
        </p:spPr>
        <p:txBody>
          <a:bodyPr wrap="square" rtlCol="0" anchor="ctr"/>
          <a:lstStyle/>
          <a:p>
            <a:pPr marL="0" indent="0">
              <a:buNone/>
            </a:pPr>
            <a:r>
              <a:rPr lang="en-US" sz="950" b="1" dirty="0">
                <a:solidFill>
                  <a:srgbClr val="1E3A8A"/>
                </a:solidFill>
                <a:latin typeface="Segoe UI" pitchFamily="34" charset="0"/>
                <a:ea typeface="Segoe UI" pitchFamily="34" charset="-122"/>
                <a:cs typeface="Segoe UI" pitchFamily="34" charset="-120"/>
              </a:rPr>
              <a:t>1. Đầu vào thực tế, không lý thuyết:
</a:t>
            </a:r>
            <a:r>
              <a:rPr lang="en-US" sz="950" dirty="0">
                <a:solidFill>
                  <a:srgbClr val="0F172A"/>
                </a:solidFill>
                <a:latin typeface="Segoe UI" pitchFamily="34" charset="0"/>
                <a:ea typeface="Segoe UI" pitchFamily="34" charset="-122"/>
                <a:cs typeface="Segoe UI" pitchFamily="34" charset="-120"/>
              </a:rPr>
              <a:t>• Ngày khởi hành &amp; Số ngày (1 - 7 ngày)
• Số khách trong đoàn &amp; Ngân sách dự kiến (VND)
• Phương tiện: Xe máy, Ô tô, Đi bộ khám phá
• Nhịp độ: Thong thả / Cân bằng / Năng động
</a:t>
            </a:r>
            <a:r>
              <a:rPr lang="en-US" sz="950" b="1" dirty="0">
                <a:solidFill>
                  <a:srgbClr val="1E3A8A"/>
                </a:solidFill>
                <a:latin typeface="Segoe UI" pitchFamily="34" charset="0"/>
                <a:ea typeface="Segoe UI" pitchFamily="34" charset="-122"/>
                <a:cs typeface="Segoe UI" pitchFamily="34" charset="-120"/>
              </a:rPr>
              <a:t>2. Nhận lệnh ngôn ngữ tự nhiên:
</a:t>
            </a:r>
            <a:r>
              <a:rPr lang="en-US" sz="950" dirty="0">
                <a:solidFill>
                  <a:srgbClr val="0F172A"/>
                </a:solidFill>
                <a:latin typeface="Segoe UI" pitchFamily="34" charset="0"/>
                <a:ea typeface="Segoe UI" pitchFamily="34" charset="-122"/>
                <a:cs typeface="Segoe UI" pitchFamily="34" charset="-120"/>
              </a:rPr>
              <a:t>Du khách có thể nhắn: "Thích ăn phở hai tô buổi sáng, trưa ngắm hồ T'Nưng, chiều chụp ảnh hoa dã quỳ..."
</a:t>
            </a:r>
            <a:r>
              <a:rPr lang="en-US" sz="950" b="1" dirty="0">
                <a:solidFill>
                  <a:srgbClr val="1E3A8A"/>
                </a:solidFill>
                <a:latin typeface="Segoe UI" pitchFamily="34" charset="0"/>
                <a:ea typeface="Segoe UI" pitchFamily="34" charset="-122"/>
                <a:cs typeface="Segoe UI" pitchFamily="34" charset="-120"/>
              </a:rPr>
              <a:t>3. Bản nháp tương tác (Draft Itinerary):
</a:t>
            </a:r>
            <a:r>
              <a:rPr lang="en-US" sz="950" dirty="0">
                <a:solidFill>
                  <a:srgbClr val="0F172A"/>
                </a:solidFill>
                <a:latin typeface="Segoe UI" pitchFamily="34" charset="0"/>
                <a:ea typeface="Segoe UI" pitchFamily="34" charset="-122"/>
                <a:cs typeface="Segoe UI" pitchFamily="34" charset="-120"/>
              </a:rPr>
              <a:t>Dễ dàng hoán đổi vị trí, thêm bớt điểm dừng, tính toán tổng chi phí và lưu vào tài khoản cá nhân.</a:t>
            </a:r>
            <a:endParaRPr lang="en-US" sz="950" dirty="0"/>
          </a:p>
        </p:txBody>
      </p:sp>
      <p:pic>
        <p:nvPicPr>
          <p:cNvPr id="17" name="Picture 16">
            <a:extLst>
              <a:ext uri="{FF2B5EF4-FFF2-40B4-BE49-F238E27FC236}">
                <a16:creationId xmlns:a16="http://schemas.microsoft.com/office/drawing/2014/main" id="{A6DA70FE-ADBF-780D-068E-D2348241AB7B}"/>
              </a:ext>
            </a:extLst>
          </p:cNvPr>
          <p:cNvPicPr>
            <a:picLocks noChangeAspect="1"/>
          </p:cNvPicPr>
          <p:nvPr/>
        </p:nvPicPr>
        <p:blipFill>
          <a:blip r:embed="rId3"/>
          <a:stretch>
            <a:fillRect/>
          </a:stretch>
        </p:blipFill>
        <p:spPr>
          <a:xfrm>
            <a:off x="731520" y="1280160"/>
            <a:ext cx="3335145" cy="369661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C2626"/>
          </a:solidFill>
          <a:ln w="12700">
            <a:solidFill>
              <a:srgbClr val="DC2626"/>
            </a:solidFill>
            <a:prstDash val="solid"/>
          </a:ln>
        </p:spPr>
        <p:txBody>
          <a:bodyPr/>
          <a:lstStyle/>
          <a:p>
            <a:endParaRPr lang="vi-VN"/>
          </a:p>
        </p:txBody>
      </p:sp>
      <p:sp>
        <p:nvSpPr>
          <p:cNvPr id="3" name="Text 1"/>
          <p:cNvSpPr/>
          <p:nvPr/>
        </p:nvSpPr>
        <p:spPr>
          <a:xfrm>
            <a:off x="731520" y="320040"/>
            <a:ext cx="6400800" cy="274320"/>
          </a:xfrm>
          <a:prstGeom prst="rect">
            <a:avLst/>
          </a:prstGeom>
          <a:noFill/>
          <a:ln/>
        </p:spPr>
        <p:txBody>
          <a:bodyPr wrap="square" rtlCol="0" anchor="ctr"/>
          <a:lstStyle/>
          <a:p>
            <a:pPr marL="0" indent="0">
              <a:buNone/>
            </a:pPr>
            <a:r>
              <a:rPr lang="en-US" sz="1000" b="1" dirty="0">
                <a:solidFill>
                  <a:srgbClr val="DC2626"/>
                </a:solidFill>
                <a:latin typeface="Segoe UI" pitchFamily="34" charset="0"/>
                <a:ea typeface="Segoe UI" pitchFamily="34" charset="-122"/>
                <a:cs typeface="Segoe UI" pitchFamily="34" charset="-120"/>
              </a:rPr>
              <a:t>05. BẢN SẮC &amp; CÔNG NGHỆ</a:t>
            </a:r>
            <a:endParaRPr lang="en-US" sz="1000" dirty="0"/>
          </a:p>
        </p:txBody>
      </p:sp>
      <p:sp>
        <p:nvSpPr>
          <p:cNvPr id="4" name="Text 2"/>
          <p:cNvSpPr/>
          <p:nvPr/>
        </p:nvSpPr>
        <p:spPr>
          <a:xfrm>
            <a:off x="731520" y="594360"/>
            <a:ext cx="6858000" cy="457200"/>
          </a:xfrm>
          <a:prstGeom prst="rect">
            <a:avLst/>
          </a:prstGeom>
          <a:noFill/>
          <a:ln/>
        </p:spPr>
        <p:txBody>
          <a:bodyPr wrap="square" rtlCol="0" anchor="ctr"/>
          <a:lstStyle/>
          <a:p>
            <a:pPr marL="0" indent="0">
              <a:buNone/>
            </a:pPr>
            <a:r>
              <a:rPr lang="en-US" sz="2200" b="1" dirty="0">
                <a:solidFill>
                  <a:srgbClr val="1E3A8A"/>
                </a:solidFill>
                <a:latin typeface="Segoe UI" pitchFamily="34" charset="0"/>
                <a:ea typeface="Segoe UI" pitchFamily="34" charset="-122"/>
                <a:cs typeface="Segoe UI" pitchFamily="34" charset="-120"/>
              </a:rPr>
              <a:t>Số Hóa Lễ Hội Văn Hóa &amp; Công Nghệ Offline-First</a:t>
            </a:r>
            <a:endParaRPr lang="en-US" sz="2200" dirty="0"/>
          </a:p>
        </p:txBody>
      </p:sp>
      <p:sp>
        <p:nvSpPr>
          <p:cNvPr id="5" name="Text 3"/>
          <p:cNvSpPr/>
          <p:nvPr/>
        </p:nvSpPr>
        <p:spPr>
          <a:xfrm>
            <a:off x="6217920" y="320040"/>
            <a:ext cx="2194560" cy="274320"/>
          </a:xfrm>
          <a:prstGeom prst="rect">
            <a:avLst/>
          </a:prstGeom>
          <a:noFill/>
          <a:ln/>
        </p:spPr>
        <p:txBody>
          <a:bodyPr wrap="square" rtlCol="0" anchor="ctr"/>
          <a:lstStyle/>
          <a:p>
            <a:pPr marL="0" indent="0" algn="r">
              <a:buNone/>
            </a:pPr>
            <a:r>
              <a:rPr lang="en-US" sz="900" dirty="0">
                <a:solidFill>
                  <a:srgbClr val="475569"/>
                </a:solidFill>
                <a:latin typeface="Segoe UI" pitchFamily="34" charset="0"/>
                <a:ea typeface="Segoe UI" pitchFamily="34" charset="-122"/>
                <a:cs typeface="Segoe UI" pitchFamily="34" charset="-120"/>
              </a:rPr>
              <a:t>6 | GiaLai Travel Pitch Deck</a:t>
            </a:r>
            <a:endParaRPr lang="en-US" sz="900" dirty="0"/>
          </a:p>
        </p:txBody>
      </p:sp>
      <p:sp>
        <p:nvSpPr>
          <p:cNvPr id="6" name="Shape 4"/>
          <p:cNvSpPr/>
          <p:nvPr/>
        </p:nvSpPr>
        <p:spPr>
          <a:xfrm>
            <a:off x="731520" y="1097280"/>
            <a:ext cx="7680960" cy="0"/>
          </a:xfrm>
          <a:prstGeom prst="line">
            <a:avLst/>
          </a:prstGeom>
          <a:noFill/>
          <a:ln w="19050">
            <a:solidFill>
              <a:srgbClr val="E2E8F0"/>
            </a:solidFill>
            <a:prstDash val="solid"/>
          </a:ln>
        </p:spPr>
        <p:txBody>
          <a:bodyPr/>
          <a:lstStyle/>
          <a:p>
            <a:endParaRPr lang="vi-VN"/>
          </a:p>
        </p:txBody>
      </p:sp>
      <p:sp>
        <p:nvSpPr>
          <p:cNvPr id="10" name="Shape 8"/>
          <p:cNvSpPr/>
          <p:nvPr/>
        </p:nvSpPr>
        <p:spPr>
          <a:xfrm>
            <a:off x="6400800" y="1280160"/>
            <a:ext cx="2011680" cy="3474720"/>
          </a:xfrm>
          <a:prstGeom prst="roundRect">
            <a:avLst>
              <a:gd name="adj" fmla="val 3636"/>
            </a:avLst>
          </a:prstGeom>
          <a:solidFill>
            <a:srgbClr val="EFF6FF"/>
          </a:solidFill>
          <a:ln w="12700">
            <a:solidFill>
              <a:srgbClr val="0047AB"/>
            </a:solidFill>
            <a:prstDash val="solid"/>
          </a:ln>
        </p:spPr>
        <p:txBody>
          <a:bodyPr/>
          <a:lstStyle/>
          <a:p>
            <a:endParaRPr lang="vi-VN"/>
          </a:p>
        </p:txBody>
      </p:sp>
      <p:sp>
        <p:nvSpPr>
          <p:cNvPr id="11" name="Text 9"/>
          <p:cNvSpPr/>
          <p:nvPr/>
        </p:nvSpPr>
        <p:spPr>
          <a:xfrm>
            <a:off x="6492240" y="1417320"/>
            <a:ext cx="1828800" cy="457200"/>
          </a:xfrm>
          <a:prstGeom prst="rect">
            <a:avLst/>
          </a:prstGeom>
          <a:noFill/>
          <a:ln/>
        </p:spPr>
        <p:txBody>
          <a:bodyPr wrap="square" rtlCol="0" anchor="ctr"/>
          <a:lstStyle/>
          <a:p>
            <a:pPr marL="0" indent="0">
              <a:buNone/>
            </a:pPr>
            <a:r>
              <a:rPr lang="en-US" sz="1100" b="1" dirty="0">
                <a:solidFill>
                  <a:srgbClr val="1E3A8A"/>
                </a:solidFill>
                <a:latin typeface="Segoe UI" pitchFamily="34" charset="0"/>
                <a:ea typeface="Segoe UI" pitchFamily="34" charset="-122"/>
                <a:cs typeface="Segoe UI" pitchFamily="34" charset="-120"/>
              </a:rPr>
              <a:t>OFFLINE-FIRST</a:t>
            </a:r>
            <a:endParaRPr lang="en-US" sz="1100" dirty="0"/>
          </a:p>
          <a:p>
            <a:pPr marL="0" indent="0">
              <a:buNone/>
            </a:pPr>
            <a:r>
              <a:rPr lang="en-US" sz="1100" b="1" dirty="0">
                <a:solidFill>
                  <a:srgbClr val="1E3A8A"/>
                </a:solidFill>
                <a:latin typeface="Segoe UI" pitchFamily="34" charset="0"/>
                <a:ea typeface="Segoe UI" pitchFamily="34" charset="-122"/>
                <a:cs typeface="Segoe UI" pitchFamily="34" charset="-120"/>
              </a:rPr>
              <a:t>KIẾN TRÚC MẠNH MẼ</a:t>
            </a:r>
            <a:endParaRPr lang="en-US" sz="1100" dirty="0"/>
          </a:p>
        </p:txBody>
      </p:sp>
      <p:sp>
        <p:nvSpPr>
          <p:cNvPr id="12" name="Text 10"/>
          <p:cNvSpPr/>
          <p:nvPr/>
        </p:nvSpPr>
        <p:spPr>
          <a:xfrm>
            <a:off x="6492240" y="1965960"/>
            <a:ext cx="1828800" cy="2651760"/>
          </a:xfrm>
          <a:prstGeom prst="rect">
            <a:avLst/>
          </a:prstGeom>
          <a:noFill/>
          <a:ln/>
        </p:spPr>
        <p:txBody>
          <a:bodyPr wrap="square" rtlCol="0" anchor="ctr"/>
          <a:lstStyle/>
          <a:p>
            <a:pPr marL="0" indent="0">
              <a:buNone/>
            </a:pPr>
            <a:r>
              <a:rPr lang="en-US" sz="950" b="1" dirty="0">
                <a:solidFill>
                  <a:srgbClr val="0047AB"/>
                </a:solidFill>
                <a:latin typeface="Segoe UI" pitchFamily="34" charset="0"/>
                <a:ea typeface="Segoe UI" pitchFamily="34" charset="-122"/>
                <a:cs typeface="Segoe UI" pitchFamily="34" charset="-120"/>
              </a:rPr>
              <a:t>• Lưu cục bộ: </a:t>
            </a:r>
            <a:r>
              <a:rPr lang="en-US" sz="950" dirty="0">
                <a:solidFill>
                  <a:srgbClr val="0F172A"/>
                </a:solidFill>
                <a:latin typeface="Segoe UI" pitchFamily="34" charset="0"/>
                <a:ea typeface="Segoe UI" pitchFamily="34" charset="-122"/>
                <a:cs typeface="Segoe UI" pitchFamily="34" charset="-120"/>
              </a:rPr>
              <a:t>Toàn bộ điểm đến, số điện thoại khẩn cấp, bản đồ lộ trình lưu sẵn trong trình duyệt.
</a:t>
            </a:r>
            <a:r>
              <a:rPr lang="en-US" sz="950" b="1" dirty="0">
                <a:solidFill>
                  <a:srgbClr val="DC2626"/>
                </a:solidFill>
                <a:latin typeface="Segoe UI" pitchFamily="34" charset="0"/>
                <a:ea typeface="Segoe UI" pitchFamily="34" charset="-122"/>
                <a:cs typeface="Segoe UI" pitchFamily="34" charset="-120"/>
              </a:rPr>
              <a:t>• Mất mạng vẫn chạy: </a:t>
            </a:r>
            <a:r>
              <a:rPr lang="en-US" sz="950" dirty="0">
                <a:solidFill>
                  <a:srgbClr val="0F172A"/>
                </a:solidFill>
                <a:latin typeface="Segoe UI" pitchFamily="34" charset="0"/>
                <a:ea typeface="Segoe UI" pitchFamily="34" charset="-122"/>
                <a:cs typeface="Segoe UI" pitchFamily="34" charset="-120"/>
              </a:rPr>
              <a:t>Đặc biệt hữu ích tại Thác K50, Rừng Chư Mom Ray, Hang động Chư Bluk khi không có sóng 4G.
</a:t>
            </a:r>
            <a:r>
              <a:rPr lang="en-US" sz="950" b="1" dirty="0">
                <a:solidFill>
                  <a:srgbClr val="0047AB"/>
                </a:solidFill>
                <a:latin typeface="Segoe UI" pitchFamily="34" charset="0"/>
                <a:ea typeface="Segoe UI" pitchFamily="34" charset="-122"/>
                <a:cs typeface="Segoe UI" pitchFamily="34" charset="-120"/>
              </a:rPr>
              <a:t>• Tối ưu Mobile: </a:t>
            </a:r>
            <a:r>
              <a:rPr lang="en-US" sz="950" dirty="0">
                <a:solidFill>
                  <a:srgbClr val="0F172A"/>
                </a:solidFill>
                <a:latin typeface="Segoe UI" pitchFamily="34" charset="0"/>
                <a:ea typeface="Segoe UI" pitchFamily="34" charset="-122"/>
                <a:cs typeface="Segoe UI" pitchFamily="34" charset="-120"/>
              </a:rPr>
              <a:t>Chuẩn PWA responsive, tốc độ mở trang dưới 1.5s, giao diện mượt mà cảm ứng chạm.</a:t>
            </a:r>
            <a:endParaRPr lang="en-US" sz="950" dirty="0"/>
          </a:p>
        </p:txBody>
      </p:sp>
      <p:pic>
        <p:nvPicPr>
          <p:cNvPr id="14" name="Picture 13">
            <a:extLst>
              <a:ext uri="{FF2B5EF4-FFF2-40B4-BE49-F238E27FC236}">
                <a16:creationId xmlns:a16="http://schemas.microsoft.com/office/drawing/2014/main" id="{BBB1862C-8E5A-713E-A5D0-EB57C19713C6}"/>
              </a:ext>
            </a:extLst>
          </p:cNvPr>
          <p:cNvPicPr>
            <a:picLocks noChangeAspect="1"/>
          </p:cNvPicPr>
          <p:nvPr/>
        </p:nvPicPr>
        <p:blipFill>
          <a:blip r:embed="rId3"/>
          <a:stretch>
            <a:fillRect/>
          </a:stretch>
        </p:blipFill>
        <p:spPr>
          <a:xfrm>
            <a:off x="2414885" y="1310174"/>
            <a:ext cx="1706011" cy="3697080"/>
          </a:xfrm>
          <a:prstGeom prst="rect">
            <a:avLst/>
          </a:prstGeom>
        </p:spPr>
      </p:pic>
      <p:pic>
        <p:nvPicPr>
          <p:cNvPr id="16" name="Picture 15">
            <a:extLst>
              <a:ext uri="{FF2B5EF4-FFF2-40B4-BE49-F238E27FC236}">
                <a16:creationId xmlns:a16="http://schemas.microsoft.com/office/drawing/2014/main" id="{71D0D50E-A89F-9915-60ED-8F8DBF5DFEFE}"/>
              </a:ext>
            </a:extLst>
          </p:cNvPr>
          <p:cNvPicPr>
            <a:picLocks noChangeAspect="1"/>
          </p:cNvPicPr>
          <p:nvPr/>
        </p:nvPicPr>
        <p:blipFill>
          <a:blip r:embed="rId4"/>
          <a:stretch>
            <a:fillRect/>
          </a:stretch>
        </p:blipFill>
        <p:spPr>
          <a:xfrm>
            <a:off x="390478" y="1310173"/>
            <a:ext cx="1706011" cy="369707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C2626"/>
          </a:solidFill>
          <a:ln w="12700">
            <a:solidFill>
              <a:srgbClr val="DC2626"/>
            </a:solidFill>
            <a:prstDash val="solid"/>
          </a:ln>
        </p:spPr>
        <p:txBody>
          <a:bodyPr/>
          <a:lstStyle/>
          <a:p>
            <a:endParaRPr lang="vi-VN"/>
          </a:p>
        </p:txBody>
      </p:sp>
      <p:sp>
        <p:nvSpPr>
          <p:cNvPr id="3" name="Text 1"/>
          <p:cNvSpPr/>
          <p:nvPr/>
        </p:nvSpPr>
        <p:spPr>
          <a:xfrm>
            <a:off x="731520" y="320040"/>
            <a:ext cx="6400800" cy="274320"/>
          </a:xfrm>
          <a:prstGeom prst="rect">
            <a:avLst/>
          </a:prstGeom>
          <a:noFill/>
          <a:ln/>
        </p:spPr>
        <p:txBody>
          <a:bodyPr wrap="square" rtlCol="0" anchor="ctr"/>
          <a:lstStyle/>
          <a:p>
            <a:pPr marL="0" indent="0">
              <a:buNone/>
            </a:pPr>
            <a:r>
              <a:rPr lang="en-US" sz="1000" b="1" dirty="0">
                <a:solidFill>
                  <a:srgbClr val="DC2626"/>
                </a:solidFill>
                <a:latin typeface="Segoe UI" pitchFamily="34" charset="0"/>
                <a:ea typeface="Segoe UI" pitchFamily="34" charset="-122"/>
                <a:cs typeface="Segoe UI" pitchFamily="34" charset="-120"/>
              </a:rPr>
              <a:t>07. THỊ TRƯỜNG MỤC TIÊU</a:t>
            </a:r>
            <a:endParaRPr lang="en-US" sz="1000" dirty="0"/>
          </a:p>
        </p:txBody>
      </p:sp>
      <p:sp>
        <p:nvSpPr>
          <p:cNvPr id="4" name="Text 2"/>
          <p:cNvSpPr/>
          <p:nvPr/>
        </p:nvSpPr>
        <p:spPr>
          <a:xfrm>
            <a:off x="731520" y="594360"/>
            <a:ext cx="6858000" cy="457200"/>
          </a:xfrm>
          <a:prstGeom prst="rect">
            <a:avLst/>
          </a:prstGeom>
          <a:noFill/>
          <a:ln/>
        </p:spPr>
        <p:txBody>
          <a:bodyPr wrap="square" rtlCol="0" anchor="ctr"/>
          <a:lstStyle/>
          <a:p>
            <a:pPr marL="0" indent="0">
              <a:buNone/>
            </a:pPr>
            <a:r>
              <a:rPr lang="en-US" sz="2200" b="1" dirty="0">
                <a:solidFill>
                  <a:srgbClr val="1E3A8A"/>
                </a:solidFill>
                <a:latin typeface="Segoe UI" pitchFamily="34" charset="0"/>
                <a:ea typeface="Segoe UI" pitchFamily="34" charset="-122"/>
                <a:cs typeface="Segoe UI" pitchFamily="34" charset="-120"/>
              </a:rPr>
              <a:t>Quy Mô Thị Trường (TAM - SAM - SOM) &amp; Khách Hàng Mục Tiêu</a:t>
            </a:r>
            <a:endParaRPr lang="en-US" sz="2200" dirty="0"/>
          </a:p>
        </p:txBody>
      </p:sp>
      <p:sp>
        <p:nvSpPr>
          <p:cNvPr id="5" name="Text 3"/>
          <p:cNvSpPr/>
          <p:nvPr/>
        </p:nvSpPr>
        <p:spPr>
          <a:xfrm>
            <a:off x="6217920" y="320040"/>
            <a:ext cx="2194560" cy="274320"/>
          </a:xfrm>
          <a:prstGeom prst="rect">
            <a:avLst/>
          </a:prstGeom>
          <a:noFill/>
          <a:ln/>
        </p:spPr>
        <p:txBody>
          <a:bodyPr wrap="square" rtlCol="0" anchor="ctr"/>
          <a:lstStyle/>
          <a:p>
            <a:pPr marL="0" indent="0" algn="r">
              <a:buNone/>
            </a:pPr>
            <a:r>
              <a:rPr lang="en-US" sz="900" dirty="0">
                <a:solidFill>
                  <a:srgbClr val="475569"/>
                </a:solidFill>
                <a:latin typeface="Segoe UI" pitchFamily="34" charset="0"/>
                <a:ea typeface="Segoe UI" pitchFamily="34" charset="-122"/>
                <a:cs typeface="Segoe UI" pitchFamily="34" charset="-120"/>
              </a:rPr>
              <a:t>8 | GiaLai Travel Pitch Deck</a:t>
            </a:r>
            <a:endParaRPr lang="en-US" sz="900" dirty="0"/>
          </a:p>
        </p:txBody>
      </p:sp>
      <p:sp>
        <p:nvSpPr>
          <p:cNvPr id="6" name="Shape 4"/>
          <p:cNvSpPr/>
          <p:nvPr/>
        </p:nvSpPr>
        <p:spPr>
          <a:xfrm>
            <a:off x="731520" y="1097280"/>
            <a:ext cx="7680960" cy="0"/>
          </a:xfrm>
          <a:prstGeom prst="line">
            <a:avLst/>
          </a:prstGeom>
          <a:noFill/>
          <a:ln w="19050">
            <a:solidFill>
              <a:srgbClr val="E2E8F0"/>
            </a:solidFill>
            <a:prstDash val="solid"/>
          </a:ln>
        </p:spPr>
        <p:txBody>
          <a:bodyPr/>
          <a:lstStyle/>
          <a:p>
            <a:endParaRPr lang="vi-VN"/>
          </a:p>
        </p:txBody>
      </p:sp>
      <p:sp>
        <p:nvSpPr>
          <p:cNvPr id="7" name="Shape 5"/>
          <p:cNvSpPr/>
          <p:nvPr/>
        </p:nvSpPr>
        <p:spPr>
          <a:xfrm>
            <a:off x="731520" y="1280160"/>
            <a:ext cx="4389120" cy="1051560"/>
          </a:xfrm>
          <a:prstGeom prst="roundRect">
            <a:avLst>
              <a:gd name="adj" fmla="val 6957"/>
            </a:avLst>
          </a:prstGeom>
          <a:solidFill>
            <a:srgbClr val="FFFFFF"/>
          </a:solidFill>
          <a:ln w="19050">
            <a:solidFill>
              <a:srgbClr val="0047AB"/>
            </a:solidFill>
            <a:prstDash val="solid"/>
          </a:ln>
        </p:spPr>
        <p:txBody>
          <a:bodyPr/>
          <a:lstStyle/>
          <a:p>
            <a:endParaRPr lang="vi-VN"/>
          </a:p>
        </p:txBody>
      </p:sp>
      <p:sp>
        <p:nvSpPr>
          <p:cNvPr id="8" name="Text 6"/>
          <p:cNvSpPr/>
          <p:nvPr/>
        </p:nvSpPr>
        <p:spPr>
          <a:xfrm>
            <a:off x="914400" y="1353312"/>
            <a:ext cx="4023360" cy="201168"/>
          </a:xfrm>
          <a:prstGeom prst="rect">
            <a:avLst/>
          </a:prstGeom>
          <a:noFill/>
          <a:ln/>
        </p:spPr>
        <p:txBody>
          <a:bodyPr wrap="square" rtlCol="0" anchor="ctr"/>
          <a:lstStyle/>
          <a:p>
            <a:pPr marL="0" indent="0">
              <a:buNone/>
            </a:pPr>
            <a:r>
              <a:rPr lang="en-US" sz="850" b="1" dirty="0">
                <a:solidFill>
                  <a:srgbClr val="0047AB"/>
                </a:solidFill>
                <a:latin typeface="Segoe UI" pitchFamily="34" charset="0"/>
                <a:ea typeface="Segoe UI" pitchFamily="34" charset="-122"/>
                <a:cs typeface="Segoe UI" pitchFamily="34" charset="-120"/>
              </a:rPr>
              <a:t>B2C • GEN Z &amp; MILLENNIALS (60%)</a:t>
            </a:r>
            <a:endParaRPr lang="en-US" sz="850" dirty="0"/>
          </a:p>
        </p:txBody>
      </p:sp>
      <p:sp>
        <p:nvSpPr>
          <p:cNvPr id="9" name="Text 7"/>
          <p:cNvSpPr/>
          <p:nvPr/>
        </p:nvSpPr>
        <p:spPr>
          <a:xfrm>
            <a:off x="914400" y="1554480"/>
            <a:ext cx="4023360" cy="256032"/>
          </a:xfrm>
          <a:prstGeom prst="rect">
            <a:avLst/>
          </a:prstGeom>
          <a:noFill/>
          <a:ln/>
        </p:spPr>
        <p:txBody>
          <a:bodyPr wrap="square" rtlCol="0" anchor="ctr"/>
          <a:lstStyle/>
          <a:p>
            <a:pPr marL="0" indent="0">
              <a:buNone/>
            </a:pPr>
            <a:r>
              <a:rPr lang="en-US" sz="1100" b="1" dirty="0">
                <a:solidFill>
                  <a:srgbClr val="1E3A8A"/>
                </a:solidFill>
                <a:latin typeface="Segoe UI" pitchFamily="34" charset="0"/>
                <a:ea typeface="Segoe UI" pitchFamily="34" charset="-122"/>
                <a:cs typeface="Segoe UI" pitchFamily="34" charset="-120"/>
              </a:rPr>
              <a:t>Khách Du Lịch Trải Nghiệm &amp; Phượt Thủ</a:t>
            </a:r>
            <a:endParaRPr lang="en-US" sz="1100" dirty="0"/>
          </a:p>
        </p:txBody>
      </p:sp>
      <p:sp>
        <p:nvSpPr>
          <p:cNvPr id="10" name="Text 8"/>
          <p:cNvSpPr/>
          <p:nvPr/>
        </p:nvSpPr>
        <p:spPr>
          <a:xfrm>
            <a:off x="914400" y="1810512"/>
            <a:ext cx="4023360" cy="475488"/>
          </a:xfrm>
          <a:prstGeom prst="rect">
            <a:avLst/>
          </a:prstGeom>
          <a:noFill/>
          <a:ln/>
        </p:spPr>
        <p:txBody>
          <a:bodyPr wrap="square" rtlCol="0" anchor="ctr"/>
          <a:lstStyle/>
          <a:p>
            <a:pPr marL="0" indent="0">
              <a:buNone/>
            </a:pPr>
            <a:r>
              <a:rPr lang="en-US" sz="850" dirty="0">
                <a:solidFill>
                  <a:srgbClr val="475569"/>
                </a:solidFill>
                <a:latin typeface="Segoe UI" pitchFamily="34" charset="0"/>
                <a:ea typeface="Segoe UI" pitchFamily="34" charset="-122"/>
                <a:cs typeface="Segoe UI" pitchFamily="34" charset="-120"/>
              </a:rPr>
              <a:t>• Yêu thích check-in, săn mây, khám phá thiên nhiên hoang sơ.</a:t>
            </a:r>
            <a:endParaRPr lang="en-US" sz="850" dirty="0"/>
          </a:p>
          <a:p>
            <a:pPr marL="0" indent="0">
              <a:buNone/>
            </a:pPr>
            <a:r>
              <a:rPr lang="en-US" sz="850" dirty="0">
                <a:solidFill>
                  <a:srgbClr val="475569"/>
                </a:solidFill>
                <a:latin typeface="Segoe UI" pitchFamily="34" charset="0"/>
                <a:ea typeface="Segoe UI" pitchFamily="34" charset="-122"/>
                <a:cs typeface="Segoe UI" pitchFamily="34" charset="-120"/>
              </a:rPr>
              <a:t>• Rất chuộng công nghệ, muốn tự chủ thời gian và ngân sách.</a:t>
            </a:r>
            <a:endParaRPr lang="en-US" sz="850" dirty="0"/>
          </a:p>
          <a:p>
            <a:pPr marL="0" indent="0">
              <a:buNone/>
            </a:pPr>
            <a:r>
              <a:rPr lang="en-US" sz="850" dirty="0">
                <a:solidFill>
                  <a:srgbClr val="475569"/>
                </a:solidFill>
                <a:latin typeface="Segoe UI" pitchFamily="34" charset="0"/>
                <a:ea typeface="Segoe UI" pitchFamily="34" charset="-122"/>
                <a:cs typeface="Segoe UI" pitchFamily="34" charset="-120"/>
              </a:rPr>
              <a:t>• Thích các địa điểm mới lạ ít người biết.</a:t>
            </a:r>
            <a:endParaRPr lang="en-US" sz="850" dirty="0"/>
          </a:p>
        </p:txBody>
      </p:sp>
      <p:sp>
        <p:nvSpPr>
          <p:cNvPr id="11" name="Shape 9"/>
          <p:cNvSpPr/>
          <p:nvPr/>
        </p:nvSpPr>
        <p:spPr>
          <a:xfrm>
            <a:off x="731520" y="2423160"/>
            <a:ext cx="4389120" cy="1051560"/>
          </a:xfrm>
          <a:prstGeom prst="roundRect">
            <a:avLst>
              <a:gd name="adj" fmla="val 6957"/>
            </a:avLst>
          </a:prstGeom>
          <a:solidFill>
            <a:srgbClr val="FFFFFF"/>
          </a:solidFill>
          <a:ln w="19050">
            <a:solidFill>
              <a:srgbClr val="DC2626"/>
            </a:solidFill>
            <a:prstDash val="solid"/>
          </a:ln>
        </p:spPr>
        <p:txBody>
          <a:bodyPr/>
          <a:lstStyle/>
          <a:p>
            <a:endParaRPr lang="vi-VN"/>
          </a:p>
        </p:txBody>
      </p:sp>
      <p:sp>
        <p:nvSpPr>
          <p:cNvPr id="12" name="Text 10"/>
          <p:cNvSpPr/>
          <p:nvPr/>
        </p:nvSpPr>
        <p:spPr>
          <a:xfrm>
            <a:off x="914400" y="2496312"/>
            <a:ext cx="4023360" cy="201168"/>
          </a:xfrm>
          <a:prstGeom prst="rect">
            <a:avLst/>
          </a:prstGeom>
          <a:noFill/>
          <a:ln/>
        </p:spPr>
        <p:txBody>
          <a:bodyPr wrap="square" rtlCol="0" anchor="ctr"/>
          <a:lstStyle/>
          <a:p>
            <a:pPr marL="0" indent="0">
              <a:buNone/>
            </a:pPr>
            <a:r>
              <a:rPr lang="en-US" sz="850" b="1" dirty="0">
                <a:solidFill>
                  <a:srgbClr val="DC2626"/>
                </a:solidFill>
                <a:latin typeface="Segoe UI" pitchFamily="34" charset="0"/>
                <a:ea typeface="Segoe UI" pitchFamily="34" charset="-122"/>
                <a:cs typeface="Segoe UI" pitchFamily="34" charset="-120"/>
              </a:rPr>
              <a:t>B2C • GIA ĐÌNH &amp; ĐOÀN KHÁCH (30%)</a:t>
            </a:r>
            <a:endParaRPr lang="en-US" sz="850" dirty="0"/>
          </a:p>
        </p:txBody>
      </p:sp>
      <p:sp>
        <p:nvSpPr>
          <p:cNvPr id="13" name="Text 11"/>
          <p:cNvSpPr/>
          <p:nvPr/>
        </p:nvSpPr>
        <p:spPr>
          <a:xfrm>
            <a:off x="914400" y="2697480"/>
            <a:ext cx="4023360" cy="256032"/>
          </a:xfrm>
          <a:prstGeom prst="rect">
            <a:avLst/>
          </a:prstGeom>
          <a:noFill/>
          <a:ln/>
        </p:spPr>
        <p:txBody>
          <a:bodyPr wrap="square" rtlCol="0" anchor="ctr"/>
          <a:lstStyle/>
          <a:p>
            <a:pPr marL="0" indent="0">
              <a:buNone/>
            </a:pPr>
            <a:r>
              <a:rPr lang="en-US" sz="1100" b="1" dirty="0">
                <a:solidFill>
                  <a:srgbClr val="1E3A8A"/>
                </a:solidFill>
                <a:latin typeface="Segoe UI" pitchFamily="34" charset="0"/>
                <a:ea typeface="Segoe UI" pitchFamily="34" charset="-122"/>
                <a:cs typeface="Segoe UI" pitchFamily="34" charset="-120"/>
              </a:rPr>
              <a:t>Du Khách Gia Đình &amp; Nghỉ Dưỡng</a:t>
            </a:r>
            <a:endParaRPr lang="en-US" sz="1100" dirty="0"/>
          </a:p>
        </p:txBody>
      </p:sp>
      <p:sp>
        <p:nvSpPr>
          <p:cNvPr id="14" name="Text 12"/>
          <p:cNvSpPr/>
          <p:nvPr/>
        </p:nvSpPr>
        <p:spPr>
          <a:xfrm>
            <a:off x="914400" y="2953512"/>
            <a:ext cx="4023360" cy="475488"/>
          </a:xfrm>
          <a:prstGeom prst="rect">
            <a:avLst/>
          </a:prstGeom>
          <a:noFill/>
          <a:ln/>
        </p:spPr>
        <p:txBody>
          <a:bodyPr wrap="square" rtlCol="0" anchor="ctr"/>
          <a:lstStyle/>
          <a:p>
            <a:pPr marL="0" indent="0">
              <a:buNone/>
            </a:pPr>
            <a:r>
              <a:rPr lang="en-US" sz="850" dirty="0">
                <a:solidFill>
                  <a:srgbClr val="475569"/>
                </a:solidFill>
                <a:latin typeface="Segoe UI" pitchFamily="34" charset="0"/>
                <a:ea typeface="Segoe UI" pitchFamily="34" charset="-122"/>
                <a:cs typeface="Segoe UI" pitchFamily="34" charset="-120"/>
              </a:rPr>
              <a:t>• Ưu tiên lịch trình an toàn, nhịp độ thong thả, chỗ ở tiện nghi.</a:t>
            </a:r>
            <a:endParaRPr lang="en-US" sz="850" dirty="0"/>
          </a:p>
          <a:p>
            <a:pPr marL="0" indent="0">
              <a:buNone/>
            </a:pPr>
            <a:r>
              <a:rPr lang="en-US" sz="850" dirty="0">
                <a:solidFill>
                  <a:srgbClr val="475569"/>
                </a:solidFill>
                <a:latin typeface="Segoe UI" pitchFamily="34" charset="0"/>
                <a:ea typeface="Segoe UI" pitchFamily="34" charset="-122"/>
                <a:cs typeface="Segoe UI" pitchFamily="34" charset="-120"/>
              </a:rPr>
              <a:t>• Cần thông tin rõ ràng về giá vé, ẩm thực đặc sản phù hợp mọi lứa tuổi.</a:t>
            </a:r>
            <a:endParaRPr lang="en-US" sz="850" dirty="0"/>
          </a:p>
        </p:txBody>
      </p:sp>
      <p:sp>
        <p:nvSpPr>
          <p:cNvPr id="15" name="Shape 13"/>
          <p:cNvSpPr/>
          <p:nvPr/>
        </p:nvSpPr>
        <p:spPr>
          <a:xfrm>
            <a:off x="731520" y="3566160"/>
            <a:ext cx="4389120" cy="1051560"/>
          </a:xfrm>
          <a:prstGeom prst="roundRect">
            <a:avLst>
              <a:gd name="adj" fmla="val 6957"/>
            </a:avLst>
          </a:prstGeom>
          <a:solidFill>
            <a:srgbClr val="FFFFFF"/>
          </a:solidFill>
          <a:ln w="19050">
            <a:solidFill>
              <a:srgbClr val="1E3A8A"/>
            </a:solidFill>
            <a:prstDash val="solid"/>
          </a:ln>
        </p:spPr>
        <p:txBody>
          <a:bodyPr/>
          <a:lstStyle/>
          <a:p>
            <a:endParaRPr lang="vi-VN"/>
          </a:p>
        </p:txBody>
      </p:sp>
      <p:sp>
        <p:nvSpPr>
          <p:cNvPr id="16" name="Text 14"/>
          <p:cNvSpPr/>
          <p:nvPr/>
        </p:nvSpPr>
        <p:spPr>
          <a:xfrm>
            <a:off x="914400" y="3639312"/>
            <a:ext cx="4023360" cy="201168"/>
          </a:xfrm>
          <a:prstGeom prst="rect">
            <a:avLst/>
          </a:prstGeom>
          <a:noFill/>
          <a:ln/>
        </p:spPr>
        <p:txBody>
          <a:bodyPr wrap="square" rtlCol="0" anchor="ctr"/>
          <a:lstStyle/>
          <a:p>
            <a:pPr marL="0" indent="0">
              <a:buNone/>
            </a:pPr>
            <a:r>
              <a:rPr lang="en-US" sz="850" b="1" dirty="0">
                <a:solidFill>
                  <a:srgbClr val="1E3A8A"/>
                </a:solidFill>
                <a:latin typeface="Segoe UI" pitchFamily="34" charset="0"/>
                <a:ea typeface="Segoe UI" pitchFamily="34" charset="-122"/>
                <a:cs typeface="Segoe UI" pitchFamily="34" charset="-120"/>
              </a:rPr>
              <a:t>B2B • ĐỐI TÁC BẢN ĐỊA (10%)</a:t>
            </a:r>
            <a:endParaRPr lang="en-US" sz="850" dirty="0"/>
          </a:p>
        </p:txBody>
      </p:sp>
      <p:sp>
        <p:nvSpPr>
          <p:cNvPr id="17" name="Text 15"/>
          <p:cNvSpPr/>
          <p:nvPr/>
        </p:nvSpPr>
        <p:spPr>
          <a:xfrm>
            <a:off x="914400" y="3840480"/>
            <a:ext cx="4023360" cy="256032"/>
          </a:xfrm>
          <a:prstGeom prst="rect">
            <a:avLst/>
          </a:prstGeom>
          <a:noFill/>
          <a:ln/>
        </p:spPr>
        <p:txBody>
          <a:bodyPr wrap="square" rtlCol="0" anchor="ctr"/>
          <a:lstStyle/>
          <a:p>
            <a:pPr marL="0" indent="0">
              <a:buNone/>
            </a:pPr>
            <a:r>
              <a:rPr lang="en-US" sz="1100" b="1" dirty="0">
                <a:solidFill>
                  <a:srgbClr val="1E3A8A"/>
                </a:solidFill>
                <a:latin typeface="Segoe UI" pitchFamily="34" charset="0"/>
                <a:ea typeface="Segoe UI" pitchFamily="34" charset="-122"/>
                <a:cs typeface="Segoe UI" pitchFamily="34" charset="-120"/>
              </a:rPr>
              <a:t>Homestay, Nhà Hàng, HDV Bản Địa</a:t>
            </a:r>
            <a:endParaRPr lang="en-US" sz="1100" dirty="0"/>
          </a:p>
        </p:txBody>
      </p:sp>
      <p:sp>
        <p:nvSpPr>
          <p:cNvPr id="18" name="Text 16"/>
          <p:cNvSpPr/>
          <p:nvPr/>
        </p:nvSpPr>
        <p:spPr>
          <a:xfrm>
            <a:off x="914400" y="4096512"/>
            <a:ext cx="4023360" cy="475488"/>
          </a:xfrm>
          <a:prstGeom prst="rect">
            <a:avLst/>
          </a:prstGeom>
          <a:noFill/>
          <a:ln/>
        </p:spPr>
        <p:txBody>
          <a:bodyPr wrap="square" rtlCol="0" anchor="ctr"/>
          <a:lstStyle/>
          <a:p>
            <a:pPr marL="0" indent="0">
              <a:buNone/>
            </a:pPr>
            <a:r>
              <a:rPr lang="en-US" sz="850" dirty="0">
                <a:solidFill>
                  <a:srgbClr val="475569"/>
                </a:solidFill>
                <a:latin typeface="Segoe UI" pitchFamily="34" charset="0"/>
                <a:ea typeface="Segoe UI" pitchFamily="34" charset="-122"/>
                <a:cs typeface="Segoe UI" pitchFamily="34" charset="-120"/>
              </a:rPr>
              <a:t>• Cần kênh quảng bá số hóa với chi phí hoa hồng thấp.</a:t>
            </a:r>
            <a:endParaRPr lang="en-US" sz="850" dirty="0"/>
          </a:p>
          <a:p>
            <a:pPr marL="0" indent="0">
              <a:buNone/>
            </a:pPr>
            <a:r>
              <a:rPr lang="en-US" sz="850" dirty="0">
                <a:solidFill>
                  <a:srgbClr val="475569"/>
                </a:solidFill>
                <a:latin typeface="Segoe UI" pitchFamily="34" charset="0"/>
                <a:ea typeface="Segoe UI" pitchFamily="34" charset="-122"/>
                <a:cs typeface="Segoe UI" pitchFamily="34" charset="-120"/>
              </a:rPr>
              <a:t>• Mong muốn tiếp cận nguồn khách du lịch chất lượng cao, bền vững.</a:t>
            </a:r>
            <a:endParaRPr lang="en-US" sz="850" dirty="0"/>
          </a:p>
        </p:txBody>
      </p:sp>
      <p:sp>
        <p:nvSpPr>
          <p:cNvPr id="19" name="Shape 17"/>
          <p:cNvSpPr/>
          <p:nvPr/>
        </p:nvSpPr>
        <p:spPr>
          <a:xfrm>
            <a:off x="5303520" y="1280160"/>
            <a:ext cx="3108960" cy="3474720"/>
          </a:xfrm>
          <a:prstGeom prst="roundRect">
            <a:avLst>
              <a:gd name="adj" fmla="val 2941"/>
            </a:avLst>
          </a:prstGeom>
          <a:solidFill>
            <a:srgbClr val="F8FAFC"/>
          </a:solidFill>
          <a:ln w="12700">
            <a:solidFill>
              <a:srgbClr val="CBD5E1"/>
            </a:solidFill>
            <a:prstDash val="solid"/>
          </a:ln>
        </p:spPr>
        <p:txBody>
          <a:bodyPr/>
          <a:lstStyle/>
          <a:p>
            <a:endParaRPr lang="vi-VN"/>
          </a:p>
        </p:txBody>
      </p:sp>
      <p:sp>
        <p:nvSpPr>
          <p:cNvPr id="20" name="Text 18"/>
          <p:cNvSpPr/>
          <p:nvPr/>
        </p:nvSpPr>
        <p:spPr>
          <a:xfrm>
            <a:off x="5486400" y="1417320"/>
            <a:ext cx="2743200" cy="274320"/>
          </a:xfrm>
          <a:prstGeom prst="rect">
            <a:avLst/>
          </a:prstGeom>
          <a:noFill/>
          <a:ln/>
        </p:spPr>
        <p:txBody>
          <a:bodyPr wrap="square" rtlCol="0" anchor="ctr"/>
          <a:lstStyle/>
          <a:p>
            <a:pPr marL="0" indent="0">
              <a:buNone/>
            </a:pPr>
            <a:r>
              <a:rPr lang="en-US" sz="1100" b="1" dirty="0">
                <a:solidFill>
                  <a:srgbClr val="DC2626"/>
                </a:solidFill>
                <a:latin typeface="Segoe UI" pitchFamily="34" charset="0"/>
                <a:ea typeface="Segoe UI" pitchFamily="34" charset="-122"/>
                <a:cs typeface="Segoe UI" pitchFamily="34" charset="-120"/>
              </a:rPr>
              <a:t>DUNG LƯỢNG THỊ TRƯỜNG</a:t>
            </a:r>
            <a:endParaRPr lang="en-US" sz="1100" dirty="0"/>
          </a:p>
        </p:txBody>
      </p:sp>
      <p:sp>
        <p:nvSpPr>
          <p:cNvPr id="21" name="Shape 19"/>
          <p:cNvSpPr/>
          <p:nvPr/>
        </p:nvSpPr>
        <p:spPr>
          <a:xfrm>
            <a:off x="5486400" y="1737360"/>
            <a:ext cx="2743200" cy="822960"/>
          </a:xfrm>
          <a:prstGeom prst="roundRect">
            <a:avLst>
              <a:gd name="adj" fmla="val 8889"/>
            </a:avLst>
          </a:prstGeom>
          <a:solidFill>
            <a:srgbClr val="EFF6FF"/>
          </a:solidFill>
          <a:ln w="15240">
            <a:solidFill>
              <a:srgbClr val="0047AB"/>
            </a:solidFill>
            <a:prstDash val="solid"/>
          </a:ln>
        </p:spPr>
        <p:txBody>
          <a:bodyPr/>
          <a:lstStyle/>
          <a:p>
            <a:endParaRPr lang="vi-VN"/>
          </a:p>
        </p:txBody>
      </p:sp>
      <p:sp>
        <p:nvSpPr>
          <p:cNvPr id="22" name="Text 20"/>
          <p:cNvSpPr/>
          <p:nvPr/>
        </p:nvSpPr>
        <p:spPr>
          <a:xfrm>
            <a:off x="5577840" y="1783080"/>
            <a:ext cx="2560320" cy="228600"/>
          </a:xfrm>
          <a:prstGeom prst="rect">
            <a:avLst/>
          </a:prstGeom>
          <a:noFill/>
          <a:ln/>
        </p:spPr>
        <p:txBody>
          <a:bodyPr wrap="square" rtlCol="0" anchor="ctr"/>
          <a:lstStyle/>
          <a:p>
            <a:pPr marL="0" indent="0">
              <a:buNone/>
            </a:pPr>
            <a:r>
              <a:rPr lang="en-US" sz="1100" b="1" dirty="0">
                <a:solidFill>
                  <a:srgbClr val="1E3A8A"/>
                </a:solidFill>
                <a:latin typeface="Segoe UI" pitchFamily="34" charset="0"/>
                <a:ea typeface="Segoe UI" pitchFamily="34" charset="-122"/>
                <a:cs typeface="Segoe UI" pitchFamily="34" charset="-120"/>
              </a:rPr>
              <a:t>TAM: 12.000+ TỶ ĐỒNG</a:t>
            </a:r>
            <a:endParaRPr lang="en-US" sz="1100" dirty="0"/>
          </a:p>
        </p:txBody>
      </p:sp>
      <p:sp>
        <p:nvSpPr>
          <p:cNvPr id="23" name="Text 21"/>
          <p:cNvSpPr/>
          <p:nvPr/>
        </p:nvSpPr>
        <p:spPr>
          <a:xfrm>
            <a:off x="5577840" y="2029968"/>
            <a:ext cx="2560320" cy="457200"/>
          </a:xfrm>
          <a:prstGeom prst="rect">
            <a:avLst/>
          </a:prstGeom>
          <a:noFill/>
          <a:ln/>
        </p:spPr>
        <p:txBody>
          <a:bodyPr wrap="square" rtlCol="0" anchor="ctr"/>
          <a:lstStyle/>
          <a:p>
            <a:pPr marL="0" indent="0">
              <a:buNone/>
            </a:pPr>
            <a:r>
              <a:rPr lang="en-US" sz="850" dirty="0">
                <a:solidFill>
                  <a:srgbClr val="0F172A"/>
                </a:solidFill>
                <a:latin typeface="Segoe UI" pitchFamily="34" charset="0"/>
                <a:ea typeface="Segoe UI" pitchFamily="34" charset="-122"/>
                <a:cs typeface="Segoe UI" pitchFamily="34" charset="-120"/>
              </a:rPr>
              <a:t>Tổng quy mô thị trường du lịch 5 tỉnh Tây Nguyên (10+ triệu lượt khách/năm)</a:t>
            </a:r>
            <a:endParaRPr lang="en-US" sz="850" dirty="0"/>
          </a:p>
        </p:txBody>
      </p:sp>
      <p:sp>
        <p:nvSpPr>
          <p:cNvPr id="24" name="Shape 22"/>
          <p:cNvSpPr/>
          <p:nvPr/>
        </p:nvSpPr>
        <p:spPr>
          <a:xfrm>
            <a:off x="5486400" y="2651760"/>
            <a:ext cx="2743200" cy="822960"/>
          </a:xfrm>
          <a:prstGeom prst="roundRect">
            <a:avLst>
              <a:gd name="adj" fmla="val 8889"/>
            </a:avLst>
          </a:prstGeom>
          <a:solidFill>
            <a:srgbClr val="FEF2F2"/>
          </a:solidFill>
          <a:ln w="15240">
            <a:solidFill>
              <a:srgbClr val="DC2626"/>
            </a:solidFill>
            <a:prstDash val="solid"/>
          </a:ln>
        </p:spPr>
        <p:txBody>
          <a:bodyPr/>
          <a:lstStyle/>
          <a:p>
            <a:endParaRPr lang="vi-VN"/>
          </a:p>
        </p:txBody>
      </p:sp>
      <p:sp>
        <p:nvSpPr>
          <p:cNvPr id="25" name="Text 23"/>
          <p:cNvSpPr/>
          <p:nvPr/>
        </p:nvSpPr>
        <p:spPr>
          <a:xfrm>
            <a:off x="5577840" y="2697480"/>
            <a:ext cx="2560320" cy="228600"/>
          </a:xfrm>
          <a:prstGeom prst="rect">
            <a:avLst/>
          </a:prstGeom>
          <a:noFill/>
          <a:ln/>
        </p:spPr>
        <p:txBody>
          <a:bodyPr wrap="square" rtlCol="0" anchor="ctr"/>
          <a:lstStyle/>
          <a:p>
            <a:pPr marL="0" indent="0">
              <a:buNone/>
            </a:pPr>
            <a:r>
              <a:rPr lang="en-US" sz="1100" b="1" dirty="0">
                <a:solidFill>
                  <a:srgbClr val="991B1B"/>
                </a:solidFill>
                <a:latin typeface="Segoe UI" pitchFamily="34" charset="0"/>
                <a:ea typeface="Segoe UI" pitchFamily="34" charset="-122"/>
                <a:cs typeface="Segoe UI" pitchFamily="34" charset="-120"/>
              </a:rPr>
              <a:t>SAM: 1.800+ TỶ ĐỒNG</a:t>
            </a:r>
            <a:endParaRPr lang="en-US" sz="1100" dirty="0"/>
          </a:p>
        </p:txBody>
      </p:sp>
      <p:sp>
        <p:nvSpPr>
          <p:cNvPr id="26" name="Text 24"/>
          <p:cNvSpPr/>
          <p:nvPr/>
        </p:nvSpPr>
        <p:spPr>
          <a:xfrm>
            <a:off x="5577840" y="2944368"/>
            <a:ext cx="2560320" cy="457200"/>
          </a:xfrm>
          <a:prstGeom prst="rect">
            <a:avLst/>
          </a:prstGeom>
          <a:noFill/>
          <a:ln/>
        </p:spPr>
        <p:txBody>
          <a:bodyPr wrap="square" rtlCol="0" anchor="ctr"/>
          <a:lstStyle/>
          <a:p>
            <a:pPr marL="0" indent="0">
              <a:buNone/>
            </a:pPr>
            <a:r>
              <a:rPr lang="en-US" sz="850" dirty="0">
                <a:solidFill>
                  <a:srgbClr val="0F172A"/>
                </a:solidFill>
                <a:latin typeface="Segoe UI" pitchFamily="34" charset="0"/>
                <a:ea typeface="Segoe UI" pitchFamily="34" charset="-122"/>
                <a:cs typeface="Segoe UI" pitchFamily="34" charset="-120"/>
              </a:rPr>
              <a:t>Quy mô chi tiêu du lịch tự túc tại Gia Lai (1.2+ triệu lượt khách hàng năm)</a:t>
            </a:r>
            <a:endParaRPr lang="en-US" sz="850" dirty="0"/>
          </a:p>
        </p:txBody>
      </p:sp>
      <p:sp>
        <p:nvSpPr>
          <p:cNvPr id="27" name="Shape 25"/>
          <p:cNvSpPr/>
          <p:nvPr/>
        </p:nvSpPr>
        <p:spPr>
          <a:xfrm>
            <a:off x="5486400" y="3566160"/>
            <a:ext cx="2743200" cy="1051560"/>
          </a:xfrm>
          <a:prstGeom prst="roundRect">
            <a:avLst>
              <a:gd name="adj" fmla="val 6957"/>
            </a:avLst>
          </a:prstGeom>
          <a:solidFill>
            <a:srgbClr val="0047AB"/>
          </a:solidFill>
          <a:ln/>
        </p:spPr>
        <p:txBody>
          <a:bodyPr/>
          <a:lstStyle/>
          <a:p>
            <a:endParaRPr lang="vi-VN"/>
          </a:p>
        </p:txBody>
      </p:sp>
      <p:sp>
        <p:nvSpPr>
          <p:cNvPr id="28" name="Text 26"/>
          <p:cNvSpPr/>
          <p:nvPr/>
        </p:nvSpPr>
        <p:spPr>
          <a:xfrm>
            <a:off x="5577840" y="3639312"/>
            <a:ext cx="2560320" cy="228600"/>
          </a:xfrm>
          <a:prstGeom prst="rect">
            <a:avLst/>
          </a:prstGeom>
          <a:noFill/>
          <a:ln/>
        </p:spPr>
        <p:txBody>
          <a:bodyPr wrap="square"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SOM: 15+ TỶ ĐỒNG / NĂM 1-2</a:t>
            </a:r>
            <a:endParaRPr lang="en-US" sz="1100" dirty="0"/>
          </a:p>
        </p:txBody>
      </p:sp>
      <p:sp>
        <p:nvSpPr>
          <p:cNvPr id="29" name="Text 27"/>
          <p:cNvSpPr/>
          <p:nvPr/>
        </p:nvSpPr>
        <p:spPr>
          <a:xfrm>
            <a:off x="5577840" y="3886200"/>
            <a:ext cx="2560320" cy="658368"/>
          </a:xfrm>
          <a:prstGeom prst="rect">
            <a:avLst/>
          </a:prstGeom>
          <a:noFill/>
          <a:ln/>
        </p:spPr>
        <p:txBody>
          <a:bodyPr wrap="square" rtlCol="0" anchor="ctr"/>
          <a:lstStyle/>
          <a:p>
            <a:pPr marL="0" indent="0">
              <a:buNone/>
            </a:pPr>
            <a:r>
              <a:rPr lang="en-US" sz="850" dirty="0">
                <a:solidFill>
                  <a:srgbClr val="E2E8F0"/>
                </a:solidFill>
                <a:latin typeface="Segoe UI" pitchFamily="34" charset="0"/>
                <a:ea typeface="Segoe UI" pitchFamily="34" charset="-122"/>
                <a:cs typeface="Segoe UI" pitchFamily="34" charset="-120"/>
              </a:rPr>
              <a:t>Mục tiêu chiếm lĩnh 10-15% thị phần khách du lịch số tại Gia Lai (150.000 người dùng thường xuyên, 20.000 giao dịch dịch vụ)</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C2626"/>
          </a:solidFill>
          <a:ln w="12700">
            <a:solidFill>
              <a:srgbClr val="DC2626"/>
            </a:solidFill>
            <a:prstDash val="solid"/>
          </a:ln>
        </p:spPr>
        <p:txBody>
          <a:bodyPr/>
          <a:lstStyle/>
          <a:p>
            <a:endParaRPr lang="vi-VN"/>
          </a:p>
        </p:txBody>
      </p:sp>
      <p:sp>
        <p:nvSpPr>
          <p:cNvPr id="3" name="Text 1"/>
          <p:cNvSpPr/>
          <p:nvPr/>
        </p:nvSpPr>
        <p:spPr>
          <a:xfrm>
            <a:off x="731520" y="320040"/>
            <a:ext cx="6400800" cy="274320"/>
          </a:xfrm>
          <a:prstGeom prst="rect">
            <a:avLst/>
          </a:prstGeom>
          <a:noFill/>
          <a:ln/>
        </p:spPr>
        <p:txBody>
          <a:bodyPr wrap="square" rtlCol="0" anchor="ctr"/>
          <a:lstStyle/>
          <a:p>
            <a:pPr marL="0" indent="0">
              <a:buNone/>
            </a:pPr>
            <a:r>
              <a:rPr lang="en-US" sz="1000" b="1" dirty="0">
                <a:solidFill>
                  <a:srgbClr val="DC2626"/>
                </a:solidFill>
                <a:latin typeface="Segoe UI" pitchFamily="34" charset="0"/>
                <a:ea typeface="Segoe UI" pitchFamily="34" charset="-122"/>
                <a:cs typeface="Segoe UI" pitchFamily="34" charset="-120"/>
              </a:rPr>
              <a:t>08. MÔ HÌNH KINH DOANH</a:t>
            </a:r>
            <a:endParaRPr lang="en-US" sz="1000" dirty="0"/>
          </a:p>
        </p:txBody>
      </p:sp>
      <p:sp>
        <p:nvSpPr>
          <p:cNvPr id="4" name="Text 2"/>
          <p:cNvSpPr/>
          <p:nvPr/>
        </p:nvSpPr>
        <p:spPr>
          <a:xfrm>
            <a:off x="731520" y="594360"/>
            <a:ext cx="6858000" cy="457200"/>
          </a:xfrm>
          <a:prstGeom prst="rect">
            <a:avLst/>
          </a:prstGeom>
          <a:noFill/>
          <a:ln/>
        </p:spPr>
        <p:txBody>
          <a:bodyPr wrap="square" rtlCol="0" anchor="ctr"/>
          <a:lstStyle/>
          <a:p>
            <a:pPr marL="0" indent="0">
              <a:buNone/>
            </a:pPr>
            <a:r>
              <a:rPr lang="en-US" sz="2200" b="1" dirty="0">
                <a:solidFill>
                  <a:srgbClr val="1E3A8A"/>
                </a:solidFill>
                <a:latin typeface="Segoe UI" pitchFamily="34" charset="0"/>
                <a:ea typeface="Segoe UI" pitchFamily="34" charset="-122"/>
                <a:cs typeface="Segoe UI" pitchFamily="34" charset="-120"/>
              </a:rPr>
              <a:t>Mô Hình Đa Dòng Doanh Thu Bền Vững (B2C &amp; B2B &amp; B2G)</a:t>
            </a:r>
            <a:endParaRPr lang="en-US" sz="2200" dirty="0"/>
          </a:p>
        </p:txBody>
      </p:sp>
      <p:sp>
        <p:nvSpPr>
          <p:cNvPr id="5" name="Text 3"/>
          <p:cNvSpPr/>
          <p:nvPr/>
        </p:nvSpPr>
        <p:spPr>
          <a:xfrm>
            <a:off x="6217920" y="320040"/>
            <a:ext cx="2194560" cy="274320"/>
          </a:xfrm>
          <a:prstGeom prst="rect">
            <a:avLst/>
          </a:prstGeom>
          <a:noFill/>
          <a:ln/>
        </p:spPr>
        <p:txBody>
          <a:bodyPr wrap="square" rtlCol="0" anchor="ctr"/>
          <a:lstStyle/>
          <a:p>
            <a:pPr marL="0" indent="0" algn="r">
              <a:buNone/>
            </a:pPr>
            <a:r>
              <a:rPr lang="en-US" sz="900" dirty="0">
                <a:solidFill>
                  <a:srgbClr val="475569"/>
                </a:solidFill>
                <a:latin typeface="Segoe UI" pitchFamily="34" charset="0"/>
                <a:ea typeface="Segoe UI" pitchFamily="34" charset="-122"/>
                <a:cs typeface="Segoe UI" pitchFamily="34" charset="-120"/>
              </a:rPr>
              <a:t>9 | GiaLai Travel Pitch Deck</a:t>
            </a:r>
            <a:endParaRPr lang="en-US" sz="900" dirty="0"/>
          </a:p>
        </p:txBody>
      </p:sp>
      <p:sp>
        <p:nvSpPr>
          <p:cNvPr id="6" name="Shape 4"/>
          <p:cNvSpPr/>
          <p:nvPr/>
        </p:nvSpPr>
        <p:spPr>
          <a:xfrm>
            <a:off x="731520" y="1097280"/>
            <a:ext cx="7680960" cy="0"/>
          </a:xfrm>
          <a:prstGeom prst="line">
            <a:avLst/>
          </a:prstGeom>
          <a:noFill/>
          <a:ln w="19050">
            <a:solidFill>
              <a:srgbClr val="E2E8F0"/>
            </a:solidFill>
            <a:prstDash val="solid"/>
          </a:ln>
        </p:spPr>
        <p:txBody>
          <a:bodyPr/>
          <a:lstStyle/>
          <a:p>
            <a:endParaRPr lang="vi-VN"/>
          </a:p>
        </p:txBody>
      </p:sp>
      <p:sp>
        <p:nvSpPr>
          <p:cNvPr id="7" name="Shape 5"/>
          <p:cNvSpPr/>
          <p:nvPr/>
        </p:nvSpPr>
        <p:spPr>
          <a:xfrm>
            <a:off x="731520" y="1280160"/>
            <a:ext cx="3794760" cy="1664208"/>
          </a:xfrm>
          <a:prstGeom prst="roundRect">
            <a:avLst>
              <a:gd name="adj" fmla="val 5495"/>
            </a:avLst>
          </a:prstGeom>
          <a:solidFill>
            <a:srgbClr val="FFFFFF"/>
          </a:solidFill>
          <a:ln w="19050">
            <a:solidFill>
              <a:srgbClr val="0047AB"/>
            </a:solidFill>
            <a:prstDash val="solid"/>
          </a:ln>
        </p:spPr>
        <p:txBody>
          <a:bodyPr/>
          <a:lstStyle/>
          <a:p>
            <a:endParaRPr lang="vi-VN"/>
          </a:p>
        </p:txBody>
      </p:sp>
      <p:sp>
        <p:nvSpPr>
          <p:cNvPr id="8" name="Shape 6"/>
          <p:cNvSpPr/>
          <p:nvPr/>
        </p:nvSpPr>
        <p:spPr>
          <a:xfrm>
            <a:off x="868680" y="1389888"/>
            <a:ext cx="1463040" cy="228600"/>
          </a:xfrm>
          <a:prstGeom prst="rect">
            <a:avLst/>
          </a:prstGeom>
          <a:solidFill>
            <a:srgbClr val="0047AB"/>
          </a:solidFill>
          <a:ln/>
        </p:spPr>
        <p:txBody>
          <a:bodyPr/>
          <a:lstStyle/>
          <a:p>
            <a:endParaRPr lang="vi-VN"/>
          </a:p>
        </p:txBody>
      </p:sp>
      <p:sp>
        <p:nvSpPr>
          <p:cNvPr id="9" name="Text 7"/>
          <p:cNvSpPr/>
          <p:nvPr/>
        </p:nvSpPr>
        <p:spPr>
          <a:xfrm>
            <a:off x="868680" y="1389888"/>
            <a:ext cx="1463040" cy="228600"/>
          </a:xfrm>
          <a:prstGeom prst="rect">
            <a:avLst/>
          </a:prstGeom>
          <a:noFill/>
          <a:ln/>
        </p:spPr>
        <p:txBody>
          <a:bodyPr wrap="square" rtlCol="0" anchor="ctr"/>
          <a:lstStyle/>
          <a:p>
            <a:pPr marL="0" indent="0" algn="ctr">
              <a:buNone/>
            </a:pPr>
            <a:r>
              <a:rPr lang="en-US" sz="850" b="1" dirty="0">
                <a:solidFill>
                  <a:srgbClr val="FFFFFF"/>
                </a:solidFill>
                <a:latin typeface="Segoe UI" pitchFamily="34" charset="0"/>
                <a:ea typeface="Segoe UI" pitchFamily="34" charset="-122"/>
                <a:cs typeface="Segoe UI" pitchFamily="34" charset="-120"/>
              </a:rPr>
              <a:t>DÒNG THU 1 • B2C</a:t>
            </a:r>
            <a:endParaRPr lang="en-US" sz="850" dirty="0"/>
          </a:p>
        </p:txBody>
      </p:sp>
      <p:sp>
        <p:nvSpPr>
          <p:cNvPr id="10" name="Text 8"/>
          <p:cNvSpPr/>
          <p:nvPr/>
        </p:nvSpPr>
        <p:spPr>
          <a:xfrm>
            <a:off x="868680" y="1664208"/>
            <a:ext cx="3520440" cy="320040"/>
          </a:xfrm>
          <a:prstGeom prst="rect">
            <a:avLst/>
          </a:prstGeom>
          <a:noFill/>
          <a:ln/>
        </p:spPr>
        <p:txBody>
          <a:bodyPr wrap="square" rtlCol="0" anchor="ctr"/>
          <a:lstStyle/>
          <a:p>
            <a:pPr marL="0" indent="0">
              <a:buNone/>
            </a:pPr>
            <a:r>
              <a:rPr lang="en-US" sz="1150" b="1" dirty="0">
                <a:solidFill>
                  <a:srgbClr val="1E3A8A"/>
                </a:solidFill>
                <a:latin typeface="Segoe UI" pitchFamily="34" charset="0"/>
                <a:ea typeface="Segoe UI" pitchFamily="34" charset="-122"/>
                <a:cs typeface="Segoe UI" pitchFamily="34" charset="-120"/>
              </a:rPr>
              <a:t>Gói Hội Viên Cao Cấp (Premium Subscription)</a:t>
            </a:r>
            <a:endParaRPr lang="en-US" sz="1150" dirty="0"/>
          </a:p>
        </p:txBody>
      </p:sp>
      <p:sp>
        <p:nvSpPr>
          <p:cNvPr id="11" name="Shape 9"/>
          <p:cNvSpPr/>
          <p:nvPr/>
        </p:nvSpPr>
        <p:spPr>
          <a:xfrm>
            <a:off x="868680" y="1993392"/>
            <a:ext cx="3520440" cy="237744"/>
          </a:xfrm>
          <a:prstGeom prst="roundRect">
            <a:avLst>
              <a:gd name="adj" fmla="val 19231"/>
            </a:avLst>
          </a:prstGeom>
          <a:solidFill>
            <a:srgbClr val="F8FAFC"/>
          </a:solidFill>
          <a:ln/>
        </p:spPr>
        <p:txBody>
          <a:bodyPr/>
          <a:lstStyle/>
          <a:p>
            <a:endParaRPr lang="vi-VN"/>
          </a:p>
        </p:txBody>
      </p:sp>
      <p:sp>
        <p:nvSpPr>
          <p:cNvPr id="12" name="Text 10"/>
          <p:cNvSpPr/>
          <p:nvPr/>
        </p:nvSpPr>
        <p:spPr>
          <a:xfrm>
            <a:off x="914400" y="1993392"/>
            <a:ext cx="3429000" cy="237744"/>
          </a:xfrm>
          <a:prstGeom prst="rect">
            <a:avLst/>
          </a:prstGeom>
          <a:noFill/>
          <a:ln/>
        </p:spPr>
        <p:txBody>
          <a:bodyPr wrap="square" rtlCol="0" anchor="ctr"/>
          <a:lstStyle/>
          <a:p>
            <a:pPr marL="0" indent="0">
              <a:buNone/>
            </a:pPr>
            <a:r>
              <a:rPr lang="en-US" sz="900" b="1" dirty="0">
                <a:solidFill>
                  <a:srgbClr val="DC2626"/>
                </a:solidFill>
                <a:latin typeface="Segoe UI" pitchFamily="34" charset="0"/>
                <a:ea typeface="Segoe UI" pitchFamily="34" charset="-122"/>
                <a:cs typeface="Segoe UI" pitchFamily="34" charset="-120"/>
              </a:rPr>
              <a:t>Mức giá: 49.000đ/tháng hoặc 199.000đ/năm</a:t>
            </a:r>
            <a:endParaRPr lang="en-US" sz="900" dirty="0"/>
          </a:p>
        </p:txBody>
      </p:sp>
      <p:sp>
        <p:nvSpPr>
          <p:cNvPr id="13" name="Text 11"/>
          <p:cNvSpPr/>
          <p:nvPr/>
        </p:nvSpPr>
        <p:spPr>
          <a:xfrm>
            <a:off x="868680" y="2267712"/>
            <a:ext cx="3520440" cy="621792"/>
          </a:xfrm>
          <a:prstGeom prst="rect">
            <a:avLst/>
          </a:prstGeom>
          <a:noFill/>
          <a:ln/>
        </p:spPr>
        <p:txBody>
          <a:bodyPr wrap="square" rtlCol="0" anchor="ctr"/>
          <a:lstStyle/>
          <a:p>
            <a:pPr marL="0" indent="0">
              <a:buNone/>
            </a:pPr>
            <a:r>
              <a:rPr lang="en-US" sz="850" dirty="0">
                <a:solidFill>
                  <a:srgbClr val="0F172A"/>
                </a:solidFill>
                <a:latin typeface="Segoe UI" pitchFamily="34" charset="0"/>
                <a:ea typeface="Segoe UI" pitchFamily="34" charset="-122"/>
                <a:cs typeface="Segoe UI" pitchFamily="34" charset="-120"/>
              </a:rPr>
              <a:t>• Tải bản đồ offline không giới hạn.</a:t>
            </a:r>
            <a:endParaRPr lang="en-US" sz="850" dirty="0"/>
          </a:p>
          <a:p>
            <a:pPr marL="0" indent="0">
              <a:buNone/>
            </a:pPr>
            <a:r>
              <a:rPr lang="en-US" sz="850" dirty="0">
                <a:solidFill>
                  <a:srgbClr val="0F172A"/>
                </a:solidFill>
                <a:latin typeface="Segoe UI" pitchFamily="34" charset="0"/>
                <a:ea typeface="Segoe UI" pitchFamily="34" charset="-122"/>
                <a:cs typeface="Segoe UI" pitchFamily="34" charset="-120"/>
              </a:rPr>
              <a:t>• Thuyết minh Audio Guide cao cấp.</a:t>
            </a:r>
            <a:endParaRPr lang="en-US" sz="850" dirty="0"/>
          </a:p>
          <a:p>
            <a:pPr marL="0" indent="0">
              <a:buNone/>
            </a:pPr>
            <a:r>
              <a:rPr lang="en-US" sz="850" dirty="0">
                <a:solidFill>
                  <a:srgbClr val="0F172A"/>
                </a:solidFill>
                <a:latin typeface="Segoe UI" pitchFamily="34" charset="0"/>
                <a:ea typeface="Segoe UI" pitchFamily="34" charset="-122"/>
                <a:cs typeface="Segoe UI" pitchFamily="34" charset="-120"/>
              </a:rPr>
              <a:t>• Không quảng cáo, nhận voucher giảm giá 5-10% tại hệ sinh thái đối tác.</a:t>
            </a:r>
            <a:endParaRPr lang="en-US" sz="850" dirty="0"/>
          </a:p>
          <a:p>
            <a:pPr marL="0" indent="0">
              <a:buNone/>
            </a:pPr>
            <a:r>
              <a:rPr lang="en-US" sz="850" dirty="0">
                <a:solidFill>
                  <a:srgbClr val="0F172A"/>
                </a:solidFill>
                <a:latin typeface="Segoe UI" pitchFamily="34" charset="0"/>
                <a:ea typeface="Segoe UI" pitchFamily="34" charset="-122"/>
                <a:cs typeface="Segoe UI" pitchFamily="34" charset="-120"/>
              </a:rPr>
              <a:t>• Hỗ trợ tạo lịch trình AI chuyên sâu không giới hạn.</a:t>
            </a:r>
            <a:endParaRPr lang="en-US" sz="850" dirty="0"/>
          </a:p>
        </p:txBody>
      </p:sp>
      <p:sp>
        <p:nvSpPr>
          <p:cNvPr id="14" name="Shape 12"/>
          <p:cNvSpPr/>
          <p:nvPr/>
        </p:nvSpPr>
        <p:spPr>
          <a:xfrm>
            <a:off x="4663440" y="1280160"/>
            <a:ext cx="3794760" cy="1664208"/>
          </a:xfrm>
          <a:prstGeom prst="roundRect">
            <a:avLst>
              <a:gd name="adj" fmla="val 5495"/>
            </a:avLst>
          </a:prstGeom>
          <a:solidFill>
            <a:srgbClr val="FFFFFF"/>
          </a:solidFill>
          <a:ln w="19050">
            <a:solidFill>
              <a:srgbClr val="DC2626"/>
            </a:solidFill>
            <a:prstDash val="solid"/>
          </a:ln>
        </p:spPr>
        <p:txBody>
          <a:bodyPr/>
          <a:lstStyle/>
          <a:p>
            <a:endParaRPr lang="vi-VN"/>
          </a:p>
        </p:txBody>
      </p:sp>
      <p:sp>
        <p:nvSpPr>
          <p:cNvPr id="15" name="Shape 13"/>
          <p:cNvSpPr/>
          <p:nvPr/>
        </p:nvSpPr>
        <p:spPr>
          <a:xfrm>
            <a:off x="4800600" y="1389888"/>
            <a:ext cx="1463040" cy="228600"/>
          </a:xfrm>
          <a:prstGeom prst="rect">
            <a:avLst/>
          </a:prstGeom>
          <a:solidFill>
            <a:srgbClr val="DC2626"/>
          </a:solidFill>
          <a:ln/>
        </p:spPr>
        <p:txBody>
          <a:bodyPr/>
          <a:lstStyle/>
          <a:p>
            <a:endParaRPr lang="vi-VN"/>
          </a:p>
        </p:txBody>
      </p:sp>
      <p:sp>
        <p:nvSpPr>
          <p:cNvPr id="16" name="Text 14"/>
          <p:cNvSpPr/>
          <p:nvPr/>
        </p:nvSpPr>
        <p:spPr>
          <a:xfrm>
            <a:off x="4800600" y="1389888"/>
            <a:ext cx="1463040" cy="228600"/>
          </a:xfrm>
          <a:prstGeom prst="rect">
            <a:avLst/>
          </a:prstGeom>
          <a:noFill/>
          <a:ln/>
        </p:spPr>
        <p:txBody>
          <a:bodyPr wrap="square" rtlCol="0" anchor="ctr"/>
          <a:lstStyle/>
          <a:p>
            <a:pPr marL="0" indent="0" algn="ctr">
              <a:buNone/>
            </a:pPr>
            <a:r>
              <a:rPr lang="en-US" sz="850" b="1" dirty="0">
                <a:solidFill>
                  <a:srgbClr val="FFFFFF"/>
                </a:solidFill>
                <a:latin typeface="Segoe UI" pitchFamily="34" charset="0"/>
                <a:ea typeface="Segoe UI" pitchFamily="34" charset="-122"/>
                <a:cs typeface="Segoe UI" pitchFamily="34" charset="-120"/>
              </a:rPr>
              <a:t>DÒNG THU 2 • B2C/B2B</a:t>
            </a:r>
            <a:endParaRPr lang="en-US" sz="850" dirty="0"/>
          </a:p>
        </p:txBody>
      </p:sp>
      <p:sp>
        <p:nvSpPr>
          <p:cNvPr id="17" name="Text 15"/>
          <p:cNvSpPr/>
          <p:nvPr/>
        </p:nvSpPr>
        <p:spPr>
          <a:xfrm>
            <a:off x="4800600" y="1664208"/>
            <a:ext cx="3520440" cy="320040"/>
          </a:xfrm>
          <a:prstGeom prst="rect">
            <a:avLst/>
          </a:prstGeom>
          <a:noFill/>
          <a:ln/>
        </p:spPr>
        <p:txBody>
          <a:bodyPr wrap="square" rtlCol="0" anchor="ctr"/>
          <a:lstStyle/>
          <a:p>
            <a:pPr marL="0" indent="0">
              <a:buNone/>
            </a:pPr>
            <a:r>
              <a:rPr lang="en-US" sz="1150" b="1" dirty="0">
                <a:solidFill>
                  <a:srgbClr val="1E3A8A"/>
                </a:solidFill>
                <a:latin typeface="Segoe UI" pitchFamily="34" charset="0"/>
                <a:ea typeface="Segoe UI" pitchFamily="34" charset="-122"/>
                <a:cs typeface="Segoe UI" pitchFamily="34" charset="-120"/>
              </a:rPr>
              <a:t>Phí Hoa Hồng Đặt Dịch Vụ (Take-rate)</a:t>
            </a:r>
            <a:endParaRPr lang="en-US" sz="1150" dirty="0"/>
          </a:p>
        </p:txBody>
      </p:sp>
      <p:sp>
        <p:nvSpPr>
          <p:cNvPr id="18" name="Shape 16"/>
          <p:cNvSpPr/>
          <p:nvPr/>
        </p:nvSpPr>
        <p:spPr>
          <a:xfrm>
            <a:off x="4800600" y="1993392"/>
            <a:ext cx="3520440" cy="237744"/>
          </a:xfrm>
          <a:prstGeom prst="roundRect">
            <a:avLst>
              <a:gd name="adj" fmla="val 19231"/>
            </a:avLst>
          </a:prstGeom>
          <a:solidFill>
            <a:srgbClr val="F8FAFC"/>
          </a:solidFill>
          <a:ln/>
        </p:spPr>
        <p:txBody>
          <a:bodyPr/>
          <a:lstStyle/>
          <a:p>
            <a:endParaRPr lang="vi-VN"/>
          </a:p>
        </p:txBody>
      </p:sp>
      <p:sp>
        <p:nvSpPr>
          <p:cNvPr id="19" name="Text 17"/>
          <p:cNvSpPr/>
          <p:nvPr/>
        </p:nvSpPr>
        <p:spPr>
          <a:xfrm>
            <a:off x="4846320" y="1993392"/>
            <a:ext cx="3429000" cy="237744"/>
          </a:xfrm>
          <a:prstGeom prst="rect">
            <a:avLst/>
          </a:prstGeom>
          <a:noFill/>
          <a:ln/>
        </p:spPr>
        <p:txBody>
          <a:bodyPr wrap="square" rtlCol="0" anchor="ctr"/>
          <a:lstStyle/>
          <a:p>
            <a:pPr marL="0" indent="0">
              <a:buNone/>
            </a:pPr>
            <a:r>
              <a:rPr lang="en-US" sz="900" b="1" dirty="0">
                <a:solidFill>
                  <a:srgbClr val="DC2626"/>
                </a:solidFill>
                <a:latin typeface="Segoe UI" pitchFamily="34" charset="0"/>
                <a:ea typeface="Segoe UI" pitchFamily="34" charset="-122"/>
                <a:cs typeface="Segoe UI" pitchFamily="34" charset="-120"/>
              </a:rPr>
              <a:t>Mức giá: 8% - 10% trên mỗi giao dịch thành công</a:t>
            </a:r>
            <a:endParaRPr lang="en-US" sz="900" dirty="0"/>
          </a:p>
        </p:txBody>
      </p:sp>
      <p:sp>
        <p:nvSpPr>
          <p:cNvPr id="20" name="Text 18"/>
          <p:cNvSpPr/>
          <p:nvPr/>
        </p:nvSpPr>
        <p:spPr>
          <a:xfrm>
            <a:off x="4800600" y="2267712"/>
            <a:ext cx="3520440" cy="621792"/>
          </a:xfrm>
          <a:prstGeom prst="rect">
            <a:avLst/>
          </a:prstGeom>
          <a:noFill/>
          <a:ln/>
        </p:spPr>
        <p:txBody>
          <a:bodyPr wrap="square" rtlCol="0" anchor="ctr"/>
          <a:lstStyle/>
          <a:p>
            <a:pPr marL="0" indent="0">
              <a:buNone/>
            </a:pPr>
            <a:r>
              <a:rPr lang="en-US" sz="850" dirty="0">
                <a:solidFill>
                  <a:srgbClr val="0F172A"/>
                </a:solidFill>
                <a:latin typeface="Segoe UI" pitchFamily="34" charset="0"/>
                <a:ea typeface="Segoe UI" pitchFamily="34" charset="-122"/>
                <a:cs typeface="Segoe UI" pitchFamily="34" charset="-120"/>
              </a:rPr>
              <a:t>• Thu trên đơn đặt phòng Homestay, thuê xe máy/ô tô tự lái, tour trải nghiệm bản địa.</a:t>
            </a:r>
            <a:endParaRPr lang="en-US" sz="850" dirty="0"/>
          </a:p>
          <a:p>
            <a:pPr marL="0" indent="0">
              <a:buNone/>
            </a:pPr>
            <a:r>
              <a:rPr lang="en-US" sz="850" dirty="0">
                <a:solidFill>
                  <a:srgbClr val="0F172A"/>
                </a:solidFill>
                <a:latin typeface="Segoe UI" pitchFamily="34" charset="0"/>
                <a:ea typeface="Segoe UI" pitchFamily="34" charset="-122"/>
                <a:cs typeface="Segoe UI" pitchFamily="34" charset="-120"/>
              </a:rPr>
              <a:t>• Thấp hơn đáng kể so với 18-25% của Booking/Agoda, tạo động lực liên kết mạnh từ cộng đồng kinh doanh Gia Lai.</a:t>
            </a:r>
            <a:endParaRPr lang="en-US" sz="850" dirty="0"/>
          </a:p>
        </p:txBody>
      </p:sp>
      <p:sp>
        <p:nvSpPr>
          <p:cNvPr id="21" name="Shape 19"/>
          <p:cNvSpPr/>
          <p:nvPr/>
        </p:nvSpPr>
        <p:spPr>
          <a:xfrm>
            <a:off x="731520" y="3063240"/>
            <a:ext cx="3794760" cy="1664208"/>
          </a:xfrm>
          <a:prstGeom prst="roundRect">
            <a:avLst>
              <a:gd name="adj" fmla="val 5495"/>
            </a:avLst>
          </a:prstGeom>
          <a:solidFill>
            <a:srgbClr val="FFFFFF"/>
          </a:solidFill>
          <a:ln w="19050">
            <a:solidFill>
              <a:srgbClr val="1E3A8A"/>
            </a:solidFill>
            <a:prstDash val="solid"/>
          </a:ln>
        </p:spPr>
        <p:txBody>
          <a:bodyPr/>
          <a:lstStyle/>
          <a:p>
            <a:endParaRPr lang="vi-VN"/>
          </a:p>
        </p:txBody>
      </p:sp>
      <p:sp>
        <p:nvSpPr>
          <p:cNvPr id="22" name="Shape 20"/>
          <p:cNvSpPr/>
          <p:nvPr/>
        </p:nvSpPr>
        <p:spPr>
          <a:xfrm>
            <a:off x="868680" y="3172968"/>
            <a:ext cx="1463040" cy="228600"/>
          </a:xfrm>
          <a:prstGeom prst="rect">
            <a:avLst/>
          </a:prstGeom>
          <a:solidFill>
            <a:srgbClr val="1E3A8A"/>
          </a:solidFill>
          <a:ln/>
        </p:spPr>
        <p:txBody>
          <a:bodyPr/>
          <a:lstStyle/>
          <a:p>
            <a:endParaRPr lang="vi-VN"/>
          </a:p>
        </p:txBody>
      </p:sp>
      <p:sp>
        <p:nvSpPr>
          <p:cNvPr id="23" name="Text 21"/>
          <p:cNvSpPr/>
          <p:nvPr/>
        </p:nvSpPr>
        <p:spPr>
          <a:xfrm>
            <a:off x="868680" y="3172968"/>
            <a:ext cx="1463040" cy="228600"/>
          </a:xfrm>
          <a:prstGeom prst="rect">
            <a:avLst/>
          </a:prstGeom>
          <a:noFill/>
          <a:ln/>
        </p:spPr>
        <p:txBody>
          <a:bodyPr wrap="square" rtlCol="0" anchor="ctr"/>
          <a:lstStyle/>
          <a:p>
            <a:pPr marL="0" indent="0" algn="ctr">
              <a:buNone/>
            </a:pPr>
            <a:r>
              <a:rPr lang="en-US" sz="850" b="1" dirty="0">
                <a:solidFill>
                  <a:srgbClr val="FFFFFF"/>
                </a:solidFill>
                <a:latin typeface="Segoe UI" pitchFamily="34" charset="0"/>
                <a:ea typeface="Segoe UI" pitchFamily="34" charset="-122"/>
                <a:cs typeface="Segoe UI" pitchFamily="34" charset="-120"/>
              </a:rPr>
              <a:t>DÒNG THU 3 • B2B</a:t>
            </a:r>
            <a:endParaRPr lang="en-US" sz="850" dirty="0"/>
          </a:p>
        </p:txBody>
      </p:sp>
      <p:sp>
        <p:nvSpPr>
          <p:cNvPr id="24" name="Text 22"/>
          <p:cNvSpPr/>
          <p:nvPr/>
        </p:nvSpPr>
        <p:spPr>
          <a:xfrm>
            <a:off x="868680" y="3447288"/>
            <a:ext cx="3520440" cy="320040"/>
          </a:xfrm>
          <a:prstGeom prst="rect">
            <a:avLst/>
          </a:prstGeom>
          <a:noFill/>
          <a:ln/>
        </p:spPr>
        <p:txBody>
          <a:bodyPr wrap="square" rtlCol="0" anchor="ctr"/>
          <a:lstStyle/>
          <a:p>
            <a:pPr marL="0" indent="0">
              <a:buNone/>
            </a:pPr>
            <a:r>
              <a:rPr lang="en-US" sz="1150" b="1" dirty="0">
                <a:solidFill>
                  <a:srgbClr val="1E3A8A"/>
                </a:solidFill>
                <a:latin typeface="Segoe UI" pitchFamily="34" charset="0"/>
                <a:ea typeface="Segoe UI" pitchFamily="34" charset="-122"/>
                <a:cs typeface="Segoe UI" pitchFamily="34" charset="-120"/>
              </a:rPr>
              <a:t>Gói Đối Tác &amp; Quảng Cáo Bản Địa (Sponsored)</a:t>
            </a:r>
            <a:endParaRPr lang="en-US" sz="1150" dirty="0"/>
          </a:p>
        </p:txBody>
      </p:sp>
      <p:sp>
        <p:nvSpPr>
          <p:cNvPr id="25" name="Shape 23"/>
          <p:cNvSpPr/>
          <p:nvPr/>
        </p:nvSpPr>
        <p:spPr>
          <a:xfrm>
            <a:off x="868680" y="3776472"/>
            <a:ext cx="3520440" cy="237744"/>
          </a:xfrm>
          <a:prstGeom prst="roundRect">
            <a:avLst>
              <a:gd name="adj" fmla="val 19231"/>
            </a:avLst>
          </a:prstGeom>
          <a:solidFill>
            <a:srgbClr val="F8FAFC"/>
          </a:solidFill>
          <a:ln/>
        </p:spPr>
        <p:txBody>
          <a:bodyPr/>
          <a:lstStyle/>
          <a:p>
            <a:endParaRPr lang="vi-VN"/>
          </a:p>
        </p:txBody>
      </p:sp>
      <p:sp>
        <p:nvSpPr>
          <p:cNvPr id="26" name="Text 24"/>
          <p:cNvSpPr/>
          <p:nvPr/>
        </p:nvSpPr>
        <p:spPr>
          <a:xfrm>
            <a:off x="914400" y="3776472"/>
            <a:ext cx="3429000" cy="237744"/>
          </a:xfrm>
          <a:prstGeom prst="rect">
            <a:avLst/>
          </a:prstGeom>
          <a:noFill/>
          <a:ln/>
        </p:spPr>
        <p:txBody>
          <a:bodyPr wrap="square" rtlCol="0" anchor="ctr"/>
          <a:lstStyle/>
          <a:p>
            <a:pPr marL="0" indent="0">
              <a:buNone/>
            </a:pPr>
            <a:r>
              <a:rPr lang="en-US" sz="900" b="1" dirty="0">
                <a:solidFill>
                  <a:srgbClr val="DC2626"/>
                </a:solidFill>
                <a:latin typeface="Segoe UI" pitchFamily="34" charset="0"/>
                <a:ea typeface="Segoe UI" pitchFamily="34" charset="-122"/>
                <a:cs typeface="Segoe UI" pitchFamily="34" charset="-120"/>
              </a:rPr>
              <a:t>Mức giá: 500.000đ - 2.000.000đ / tháng / đối tác</a:t>
            </a:r>
            <a:endParaRPr lang="en-US" sz="900" dirty="0"/>
          </a:p>
        </p:txBody>
      </p:sp>
      <p:sp>
        <p:nvSpPr>
          <p:cNvPr id="27" name="Text 25"/>
          <p:cNvSpPr/>
          <p:nvPr/>
        </p:nvSpPr>
        <p:spPr>
          <a:xfrm>
            <a:off x="868680" y="4050792"/>
            <a:ext cx="3520440" cy="621792"/>
          </a:xfrm>
          <a:prstGeom prst="rect">
            <a:avLst/>
          </a:prstGeom>
          <a:noFill/>
          <a:ln/>
        </p:spPr>
        <p:txBody>
          <a:bodyPr wrap="square" rtlCol="0" anchor="ctr"/>
          <a:lstStyle/>
          <a:p>
            <a:pPr marL="0" indent="0">
              <a:buNone/>
            </a:pPr>
            <a:r>
              <a:rPr lang="en-US" sz="850" dirty="0">
                <a:solidFill>
                  <a:srgbClr val="0F172A"/>
                </a:solidFill>
                <a:latin typeface="Segoe UI" pitchFamily="34" charset="0"/>
                <a:ea typeface="Segoe UI" pitchFamily="34" charset="-122"/>
                <a:cs typeface="Segoe UI" pitchFamily="34" charset="-120"/>
              </a:rPr>
              <a:t>• Hiển thị ưu tiên (Featured POI) trên trang Khám phá &amp; Gợi ý lộ trình AI.</a:t>
            </a:r>
            <a:endParaRPr lang="en-US" sz="850" dirty="0"/>
          </a:p>
          <a:p>
            <a:pPr marL="0" indent="0">
              <a:buNone/>
            </a:pPr>
            <a:r>
              <a:rPr lang="en-US" sz="850" dirty="0">
                <a:solidFill>
                  <a:srgbClr val="0F172A"/>
                </a:solidFill>
                <a:latin typeface="Segoe UI" pitchFamily="34" charset="0"/>
                <a:ea typeface="Segoe UI" pitchFamily="34" charset="-122"/>
                <a:cs typeface="Segoe UI" pitchFamily="34" charset="-120"/>
              </a:rPr>
              <a:t>• Gói công cụ quản trị dành riêng cho chủ homestay và quán ăn đặc sản Gia Lai.</a:t>
            </a:r>
            <a:endParaRPr lang="en-US" sz="850" dirty="0"/>
          </a:p>
        </p:txBody>
      </p:sp>
      <p:sp>
        <p:nvSpPr>
          <p:cNvPr id="28" name="Shape 26"/>
          <p:cNvSpPr/>
          <p:nvPr/>
        </p:nvSpPr>
        <p:spPr>
          <a:xfrm>
            <a:off x="4663440" y="3063240"/>
            <a:ext cx="3794760" cy="1664208"/>
          </a:xfrm>
          <a:prstGeom prst="roundRect">
            <a:avLst>
              <a:gd name="adj" fmla="val 5495"/>
            </a:avLst>
          </a:prstGeom>
          <a:solidFill>
            <a:srgbClr val="FFFFFF"/>
          </a:solidFill>
          <a:ln w="19050">
            <a:solidFill>
              <a:srgbClr val="991B1B"/>
            </a:solidFill>
            <a:prstDash val="solid"/>
          </a:ln>
        </p:spPr>
        <p:txBody>
          <a:bodyPr/>
          <a:lstStyle/>
          <a:p>
            <a:endParaRPr lang="vi-VN"/>
          </a:p>
        </p:txBody>
      </p:sp>
      <p:sp>
        <p:nvSpPr>
          <p:cNvPr id="29" name="Shape 27"/>
          <p:cNvSpPr/>
          <p:nvPr/>
        </p:nvSpPr>
        <p:spPr>
          <a:xfrm>
            <a:off x="4800600" y="3172968"/>
            <a:ext cx="1463040" cy="228600"/>
          </a:xfrm>
          <a:prstGeom prst="rect">
            <a:avLst/>
          </a:prstGeom>
          <a:solidFill>
            <a:srgbClr val="991B1B"/>
          </a:solidFill>
          <a:ln/>
        </p:spPr>
        <p:txBody>
          <a:bodyPr/>
          <a:lstStyle/>
          <a:p>
            <a:endParaRPr lang="vi-VN"/>
          </a:p>
        </p:txBody>
      </p:sp>
      <p:sp>
        <p:nvSpPr>
          <p:cNvPr id="30" name="Text 28"/>
          <p:cNvSpPr/>
          <p:nvPr/>
        </p:nvSpPr>
        <p:spPr>
          <a:xfrm>
            <a:off x="4800600" y="3172968"/>
            <a:ext cx="1463040" cy="228600"/>
          </a:xfrm>
          <a:prstGeom prst="rect">
            <a:avLst/>
          </a:prstGeom>
          <a:noFill/>
          <a:ln/>
        </p:spPr>
        <p:txBody>
          <a:bodyPr wrap="square" rtlCol="0" anchor="ctr"/>
          <a:lstStyle/>
          <a:p>
            <a:pPr marL="0" indent="0" algn="ctr">
              <a:buNone/>
            </a:pPr>
            <a:r>
              <a:rPr lang="en-US" sz="850" b="1" dirty="0">
                <a:solidFill>
                  <a:srgbClr val="FFFFFF"/>
                </a:solidFill>
                <a:latin typeface="Segoe UI" pitchFamily="34" charset="0"/>
                <a:ea typeface="Segoe UI" pitchFamily="34" charset="-122"/>
                <a:cs typeface="Segoe UI" pitchFamily="34" charset="-120"/>
              </a:rPr>
              <a:t>DÒNG THU 4 • B2G</a:t>
            </a:r>
            <a:endParaRPr lang="en-US" sz="850" dirty="0"/>
          </a:p>
        </p:txBody>
      </p:sp>
      <p:sp>
        <p:nvSpPr>
          <p:cNvPr id="31" name="Text 29"/>
          <p:cNvSpPr/>
          <p:nvPr/>
        </p:nvSpPr>
        <p:spPr>
          <a:xfrm>
            <a:off x="4800600" y="3447288"/>
            <a:ext cx="3520440" cy="320040"/>
          </a:xfrm>
          <a:prstGeom prst="rect">
            <a:avLst/>
          </a:prstGeom>
          <a:noFill/>
          <a:ln/>
        </p:spPr>
        <p:txBody>
          <a:bodyPr wrap="square" rtlCol="0" anchor="ctr"/>
          <a:lstStyle/>
          <a:p>
            <a:pPr marL="0" indent="0">
              <a:buNone/>
            </a:pPr>
            <a:r>
              <a:rPr lang="en-US" sz="1150" b="1" dirty="0">
                <a:solidFill>
                  <a:srgbClr val="1E3A8A"/>
                </a:solidFill>
                <a:latin typeface="Segoe UI" pitchFamily="34" charset="0"/>
                <a:ea typeface="Segoe UI" pitchFamily="34" charset="-122"/>
                <a:cs typeface="Segoe UI" pitchFamily="34" charset="-120"/>
              </a:rPr>
              <a:t>Báo Cáo Phân Tích Dữ Liệu Du Lịch (Insights)</a:t>
            </a:r>
            <a:endParaRPr lang="en-US" sz="1150" dirty="0"/>
          </a:p>
        </p:txBody>
      </p:sp>
      <p:sp>
        <p:nvSpPr>
          <p:cNvPr id="32" name="Shape 30"/>
          <p:cNvSpPr/>
          <p:nvPr/>
        </p:nvSpPr>
        <p:spPr>
          <a:xfrm>
            <a:off x="4800600" y="3776472"/>
            <a:ext cx="3520440" cy="237744"/>
          </a:xfrm>
          <a:prstGeom prst="roundRect">
            <a:avLst>
              <a:gd name="adj" fmla="val 19231"/>
            </a:avLst>
          </a:prstGeom>
          <a:solidFill>
            <a:srgbClr val="F8FAFC"/>
          </a:solidFill>
          <a:ln/>
        </p:spPr>
        <p:txBody>
          <a:bodyPr/>
          <a:lstStyle/>
          <a:p>
            <a:endParaRPr lang="vi-VN"/>
          </a:p>
        </p:txBody>
      </p:sp>
      <p:sp>
        <p:nvSpPr>
          <p:cNvPr id="33" name="Text 31"/>
          <p:cNvSpPr/>
          <p:nvPr/>
        </p:nvSpPr>
        <p:spPr>
          <a:xfrm>
            <a:off x="4846320" y="3776472"/>
            <a:ext cx="3429000" cy="237744"/>
          </a:xfrm>
          <a:prstGeom prst="rect">
            <a:avLst/>
          </a:prstGeom>
          <a:noFill/>
          <a:ln/>
        </p:spPr>
        <p:txBody>
          <a:bodyPr wrap="square" rtlCol="0" anchor="ctr"/>
          <a:lstStyle/>
          <a:p>
            <a:pPr marL="0" indent="0">
              <a:buNone/>
            </a:pPr>
            <a:r>
              <a:rPr lang="en-US" sz="900" b="1" dirty="0">
                <a:solidFill>
                  <a:srgbClr val="DC2626"/>
                </a:solidFill>
                <a:latin typeface="Segoe UI" pitchFamily="34" charset="0"/>
                <a:ea typeface="Segoe UI" pitchFamily="34" charset="-122"/>
                <a:cs typeface="Segoe UI" pitchFamily="34" charset="-120"/>
              </a:rPr>
              <a:t>Mức giá: Hợp đồng dự án / Định kỳ hàng quý</a:t>
            </a:r>
            <a:endParaRPr lang="en-US" sz="900" dirty="0"/>
          </a:p>
        </p:txBody>
      </p:sp>
      <p:sp>
        <p:nvSpPr>
          <p:cNvPr id="34" name="Text 32"/>
          <p:cNvSpPr/>
          <p:nvPr/>
        </p:nvSpPr>
        <p:spPr>
          <a:xfrm>
            <a:off x="4800600" y="4050792"/>
            <a:ext cx="3520440" cy="621792"/>
          </a:xfrm>
          <a:prstGeom prst="rect">
            <a:avLst/>
          </a:prstGeom>
          <a:noFill/>
          <a:ln/>
        </p:spPr>
        <p:txBody>
          <a:bodyPr wrap="square" rtlCol="0" anchor="ctr"/>
          <a:lstStyle/>
          <a:p>
            <a:pPr marL="0" indent="0">
              <a:buNone/>
            </a:pPr>
            <a:r>
              <a:rPr lang="en-US" sz="850" dirty="0">
                <a:solidFill>
                  <a:srgbClr val="0F172A"/>
                </a:solidFill>
                <a:latin typeface="Segoe UI" pitchFamily="34" charset="0"/>
                <a:ea typeface="Segoe UI" pitchFamily="34" charset="-122"/>
                <a:cs typeface="Segoe UI" pitchFamily="34" charset="-120"/>
              </a:rPr>
              <a:t>• Báo cáo tổng hợp xu hướng luồng du khách, mật độ POI, thị hiếu chi tiêu phục vụ Sở Du lịch &amp; các cơ quan xúc tiến phát triển du lịch địa phương.</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C2626"/>
          </a:solidFill>
          <a:ln w="12700">
            <a:solidFill>
              <a:srgbClr val="DC2626"/>
            </a:solidFill>
            <a:prstDash val="solid"/>
          </a:ln>
        </p:spPr>
        <p:txBody>
          <a:bodyPr/>
          <a:lstStyle/>
          <a:p>
            <a:endParaRPr lang="vi-VN"/>
          </a:p>
        </p:txBody>
      </p:sp>
      <p:sp>
        <p:nvSpPr>
          <p:cNvPr id="3" name="Text 1"/>
          <p:cNvSpPr/>
          <p:nvPr/>
        </p:nvSpPr>
        <p:spPr>
          <a:xfrm>
            <a:off x="731520" y="320040"/>
            <a:ext cx="6400800" cy="274320"/>
          </a:xfrm>
          <a:prstGeom prst="rect">
            <a:avLst/>
          </a:prstGeom>
          <a:noFill/>
          <a:ln/>
        </p:spPr>
        <p:txBody>
          <a:bodyPr wrap="square" rtlCol="0" anchor="ctr"/>
          <a:lstStyle/>
          <a:p>
            <a:pPr marL="0" indent="0">
              <a:buNone/>
            </a:pPr>
            <a:r>
              <a:rPr lang="en-US" sz="1000" b="1" dirty="0">
                <a:solidFill>
                  <a:srgbClr val="DC2626"/>
                </a:solidFill>
                <a:latin typeface="Segoe UI" pitchFamily="34" charset="0"/>
                <a:ea typeface="Segoe UI" pitchFamily="34" charset="-122"/>
                <a:cs typeface="Segoe UI" pitchFamily="34" charset="-120"/>
              </a:rPr>
              <a:t>09. LỢI THẾ CẠNH TRANH</a:t>
            </a:r>
            <a:endParaRPr lang="en-US" sz="1000" dirty="0"/>
          </a:p>
        </p:txBody>
      </p:sp>
      <p:sp>
        <p:nvSpPr>
          <p:cNvPr id="4" name="Text 2"/>
          <p:cNvSpPr/>
          <p:nvPr/>
        </p:nvSpPr>
        <p:spPr>
          <a:xfrm>
            <a:off x="731520" y="594360"/>
            <a:ext cx="6858000" cy="457200"/>
          </a:xfrm>
          <a:prstGeom prst="rect">
            <a:avLst/>
          </a:prstGeom>
          <a:noFill/>
          <a:ln/>
        </p:spPr>
        <p:txBody>
          <a:bodyPr wrap="square" rtlCol="0" anchor="ctr"/>
          <a:lstStyle/>
          <a:p>
            <a:pPr marL="0" indent="0">
              <a:buNone/>
            </a:pPr>
            <a:r>
              <a:rPr lang="en-US" sz="2200" b="1" dirty="0">
                <a:solidFill>
                  <a:srgbClr val="1E3A8A"/>
                </a:solidFill>
                <a:latin typeface="Segoe UI" pitchFamily="34" charset="0"/>
                <a:ea typeface="Segoe UI" pitchFamily="34" charset="-122"/>
                <a:cs typeface="Segoe UI" pitchFamily="34" charset="-120"/>
              </a:rPr>
              <a:t>Ma Trận So Sánh Điểm Vượt Trội Của GiaLai Travel</a:t>
            </a:r>
            <a:endParaRPr lang="en-US" sz="2200" dirty="0"/>
          </a:p>
        </p:txBody>
      </p:sp>
      <p:sp>
        <p:nvSpPr>
          <p:cNvPr id="5" name="Text 3"/>
          <p:cNvSpPr/>
          <p:nvPr/>
        </p:nvSpPr>
        <p:spPr>
          <a:xfrm>
            <a:off x="6217920" y="320040"/>
            <a:ext cx="2194560" cy="274320"/>
          </a:xfrm>
          <a:prstGeom prst="rect">
            <a:avLst/>
          </a:prstGeom>
          <a:noFill/>
          <a:ln/>
        </p:spPr>
        <p:txBody>
          <a:bodyPr wrap="square" rtlCol="0" anchor="ctr"/>
          <a:lstStyle/>
          <a:p>
            <a:pPr marL="0" indent="0" algn="r">
              <a:buNone/>
            </a:pPr>
            <a:r>
              <a:rPr lang="en-US" sz="900" dirty="0">
                <a:solidFill>
                  <a:srgbClr val="475569"/>
                </a:solidFill>
                <a:latin typeface="Segoe UI" pitchFamily="34" charset="0"/>
                <a:ea typeface="Segoe UI" pitchFamily="34" charset="-122"/>
                <a:cs typeface="Segoe UI" pitchFamily="34" charset="-120"/>
              </a:rPr>
              <a:t>10 | GiaLai Travel Pitch Deck</a:t>
            </a:r>
            <a:endParaRPr lang="en-US" sz="900" dirty="0"/>
          </a:p>
        </p:txBody>
      </p:sp>
      <p:sp>
        <p:nvSpPr>
          <p:cNvPr id="6" name="Shape 4"/>
          <p:cNvSpPr/>
          <p:nvPr/>
        </p:nvSpPr>
        <p:spPr>
          <a:xfrm>
            <a:off x="731520" y="1097280"/>
            <a:ext cx="7680960" cy="0"/>
          </a:xfrm>
          <a:prstGeom prst="line">
            <a:avLst/>
          </a:prstGeom>
          <a:noFill/>
          <a:ln w="19050">
            <a:solidFill>
              <a:srgbClr val="E2E8F0"/>
            </a:solidFill>
            <a:prstDash val="solid"/>
          </a:ln>
        </p:spPr>
        <p:txBody>
          <a:bodyPr/>
          <a:lstStyle/>
          <a:p>
            <a:endParaRPr lang="vi-VN"/>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7680960" cy="3337560"/>
        </p:xfrm>
        <a:graphic>
          <a:graphicData uri="http://schemas.openxmlformats.org/drawingml/2006/table">
            <a:tbl>
              <a:tblPr/>
              <a:tblGrid>
                <a:gridCol w="19202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556260">
                <a:tc>
                  <a:txBody>
                    <a:bodyPr/>
                    <a:lstStyle/>
                    <a:p>
                      <a:pPr marL="0" indent="0" algn="ctr">
                        <a:buNone/>
                      </a:pPr>
                      <a:r>
                        <a:rPr lang="en-US" sz="950" b="1" dirty="0">
                          <a:solidFill>
                            <a:srgbClr val="FFFFFF"/>
                          </a:solidFill>
                          <a:latin typeface="Segoe UI" pitchFamily="34" charset="0"/>
                          <a:ea typeface="Segoe UI" pitchFamily="34" charset="-122"/>
                          <a:cs typeface="Segoe UI" pitchFamily="34" charset="-120"/>
                        </a:rPr>
                        <a:t>Tiêu Chí So Sánh</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marL="0" indent="0" algn="ctr">
                        <a:buNone/>
                      </a:pPr>
                      <a:r>
                        <a:rPr lang="en-US" sz="950" b="1" dirty="0">
                          <a:solidFill>
                            <a:srgbClr val="FFFFFF"/>
                          </a:solidFill>
                          <a:latin typeface="Segoe UI" pitchFamily="34" charset="0"/>
                          <a:ea typeface="Segoe UI" pitchFamily="34" charset="-122"/>
                          <a:cs typeface="Segoe UI" pitchFamily="34" charset="-120"/>
                        </a:rPr>
                        <a:t>Google Maps</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64748B"/>
                    </a:solidFill>
                  </a:tcPr>
                </a:tc>
                <a:tc>
                  <a:txBody>
                    <a:bodyPr/>
                    <a:lstStyle/>
                    <a:p>
                      <a:pPr marL="0" indent="0" algn="ctr">
                        <a:buNone/>
                      </a:pPr>
                      <a:r>
                        <a:rPr lang="en-US" sz="950" b="1" dirty="0">
                          <a:solidFill>
                            <a:srgbClr val="FFFFFF"/>
                          </a:solidFill>
                          <a:latin typeface="Segoe UI" pitchFamily="34" charset="0"/>
                          <a:ea typeface="Segoe UI" pitchFamily="34" charset="-122"/>
                          <a:cs typeface="Segoe UI" pitchFamily="34" charset="-120"/>
                        </a:rPr>
                        <a:t>OTA Quốc Tế</a:t>
                      </a:r>
                      <a:endParaRPr lang="en-US" sz="950" dirty="0">
                        <a:latin typeface="Segoe UI" charset="0"/>
                        <a:ea typeface="Segoe UI" charset="0"/>
                        <a:cs typeface="Segoe UI" charset="0"/>
                      </a:endParaRPr>
                    </a:p>
                    <a:p>
                      <a:pPr marL="0" indent="0" algn="ctr">
                        <a:buNone/>
                      </a:pPr>
                      <a:r>
                        <a:rPr lang="en-US" sz="950" b="1" dirty="0">
                          <a:solidFill>
                            <a:srgbClr val="FFFFFF"/>
                          </a:solidFill>
                          <a:latin typeface="Segoe UI" pitchFamily="34" charset="0"/>
                          <a:ea typeface="Segoe UI" pitchFamily="34" charset="-122"/>
                          <a:cs typeface="Segoe UI" pitchFamily="34" charset="-120"/>
                        </a:rPr>
                        <a:t>(Booking/Traveloka)</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64748B"/>
                    </a:solidFill>
                  </a:tcPr>
                </a:tc>
                <a:tc>
                  <a:txBody>
                    <a:bodyPr/>
                    <a:lstStyle/>
                    <a:p>
                      <a:pPr marL="0" indent="0" algn="ctr">
                        <a:buNone/>
                      </a:pPr>
                      <a:r>
                        <a:rPr lang="en-US" sz="950" b="1" dirty="0">
                          <a:solidFill>
                            <a:srgbClr val="FFFFFF"/>
                          </a:solidFill>
                          <a:latin typeface="Segoe UI" pitchFamily="34" charset="0"/>
                          <a:ea typeface="Segoe UI" pitchFamily="34" charset="-122"/>
                          <a:cs typeface="Segoe UI" pitchFamily="34" charset="-120"/>
                        </a:rPr>
                        <a:t>GiaLai Travel</a:t>
                      </a:r>
                      <a:endParaRPr lang="en-US" sz="950" dirty="0">
                        <a:latin typeface="Segoe UI" charset="0"/>
                        <a:ea typeface="Segoe UI" charset="0"/>
                        <a:cs typeface="Segoe UI" charset="0"/>
                      </a:endParaRPr>
                    </a:p>
                    <a:p>
                      <a:pPr marL="0" indent="0" algn="ctr">
                        <a:buNone/>
                      </a:pPr>
                      <a:r>
                        <a:rPr lang="en-US" sz="950" b="1" dirty="0">
                          <a:solidFill>
                            <a:srgbClr val="FFFFFF"/>
                          </a:solidFill>
                          <a:latin typeface="Segoe UI" pitchFamily="34" charset="0"/>
                          <a:ea typeface="Segoe UI" pitchFamily="34" charset="-122"/>
                          <a:cs typeface="Segoe UI" pitchFamily="34" charset="-120"/>
                        </a:rPr>
                        <a:t>(Dự Án Khởi Nghiệp)</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C2626"/>
                    </a:solidFill>
                  </a:tcPr>
                </a:tc>
                <a:extLst>
                  <a:ext uri="{0D108BD9-81ED-4DB2-BD59-A6C34878D82A}">
                    <a16:rowId xmlns:a16="http://schemas.microsoft.com/office/drawing/2014/main" val="10000"/>
                  </a:ext>
                </a:extLst>
              </a:tr>
              <a:tr h="556260">
                <a:tc>
                  <a:txBody>
                    <a:bodyPr/>
                    <a:lstStyle/>
                    <a:p>
                      <a:pPr marL="0" indent="0" algn="l">
                        <a:buNone/>
                      </a:pPr>
                      <a:r>
                        <a:rPr lang="en-US" sz="950" b="1" dirty="0">
                          <a:solidFill>
                            <a:srgbClr val="000000"/>
                          </a:solidFill>
                          <a:latin typeface="Segoe UI" pitchFamily="34" charset="0"/>
                          <a:ea typeface="Segoe UI" pitchFamily="34" charset="-122"/>
                          <a:cs typeface="Segoe UI" pitchFamily="34" charset="-120"/>
                        </a:rPr>
                        <a:t>Độ sâu dữ liệu bản địa</a:t>
                      </a:r>
                      <a:endParaRPr lang="en-US" sz="950" dirty="0">
                        <a:latin typeface="Segoe UI" charset="0"/>
                        <a:ea typeface="Segoe UI" charset="0"/>
                        <a:cs typeface="Segoe UI" charset="0"/>
                      </a:endParaRPr>
                    </a:p>
                    <a:p>
                      <a:pPr marL="0" indent="0" algn="l">
                        <a:buNone/>
                      </a:pPr>
                      <a:r>
                        <a:rPr lang="en-US" sz="950" b="1" dirty="0">
                          <a:solidFill>
                            <a:srgbClr val="000000"/>
                          </a:solidFill>
                          <a:latin typeface="Segoe UI" pitchFamily="34" charset="0"/>
                          <a:ea typeface="Segoe UI" pitchFamily="34" charset="-122"/>
                          <a:cs typeface="Segoe UI" pitchFamily="34" charset="-120"/>
                        </a:rPr>
                        <a:t>(Hyper-local data)</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950" dirty="0">
                          <a:solidFill>
                            <a:srgbClr val="000000"/>
                          </a:solidFill>
                          <a:latin typeface="Segoe UI" pitchFamily="34" charset="0"/>
                          <a:ea typeface="Segoe UI" pitchFamily="34" charset="-122"/>
                          <a:cs typeface="Segoe UI" pitchFamily="34" charset="-120"/>
                        </a:rPr>
                        <a:t>Trung bình</a:t>
                      </a:r>
                      <a:endParaRPr lang="en-US" sz="950" dirty="0">
                        <a:latin typeface="Segoe UI" charset="0"/>
                        <a:ea typeface="Segoe UI" charset="0"/>
                        <a:cs typeface="Segoe UI" charset="0"/>
                      </a:endParaRPr>
                    </a:p>
                    <a:p>
                      <a:pPr marL="0" indent="0" algn="l">
                        <a:buNone/>
                      </a:pPr>
                      <a:r>
                        <a:rPr lang="en-US" sz="950" dirty="0">
                          <a:solidFill>
                            <a:srgbClr val="000000"/>
                          </a:solidFill>
                          <a:latin typeface="Segoe UI" pitchFamily="34" charset="0"/>
                          <a:ea typeface="Segoe UI" pitchFamily="34" charset="-122"/>
                          <a:cs typeface="Segoe UI" pitchFamily="34" charset="-120"/>
                        </a:rPr>
                        <a:t>(Dữ liệu chung toàn cầu)</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950" dirty="0">
                          <a:solidFill>
                            <a:srgbClr val="000000"/>
                          </a:solidFill>
                          <a:latin typeface="Segoe UI" pitchFamily="34" charset="0"/>
                          <a:ea typeface="Segoe UI" pitchFamily="34" charset="-122"/>
                          <a:cs typeface="Segoe UI" pitchFamily="34" charset="-120"/>
                        </a:rPr>
                        <a:t>Thấp</a:t>
                      </a:r>
                      <a:endParaRPr lang="en-US" sz="950" dirty="0">
                        <a:latin typeface="Segoe UI" charset="0"/>
                        <a:ea typeface="Segoe UI" charset="0"/>
                        <a:cs typeface="Segoe UI" charset="0"/>
                      </a:endParaRPr>
                    </a:p>
                    <a:p>
                      <a:pPr marL="0" indent="0" algn="l">
                        <a:buNone/>
                      </a:pPr>
                      <a:r>
                        <a:rPr lang="en-US" sz="950" dirty="0">
                          <a:solidFill>
                            <a:srgbClr val="000000"/>
                          </a:solidFill>
                          <a:latin typeface="Segoe UI" pitchFamily="34" charset="0"/>
                          <a:ea typeface="Segoe UI" pitchFamily="34" charset="-122"/>
                          <a:cs typeface="Segoe UI" pitchFamily="34" charset="-120"/>
                        </a:rPr>
                        <a:t>(Chỉ tập trung khách sạn lớn)</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950" b="1" dirty="0">
                          <a:solidFill>
                            <a:srgbClr val="DC2626"/>
                          </a:solidFill>
                          <a:latin typeface="Segoe UI" pitchFamily="34" charset="0"/>
                          <a:ea typeface="Segoe UI" pitchFamily="34" charset="-122"/>
                          <a:cs typeface="Segoe UI" pitchFamily="34" charset="-120"/>
                        </a:rPr>
                        <a:t>Rất cao ★★★</a:t>
                      </a:r>
                      <a:endParaRPr lang="en-US" sz="950" dirty="0">
                        <a:latin typeface="Segoe UI" charset="0"/>
                        <a:ea typeface="Segoe UI" charset="0"/>
                        <a:cs typeface="Segoe UI" charset="0"/>
                      </a:endParaRPr>
                    </a:p>
                    <a:p>
                      <a:pPr marL="0" indent="0" algn="l">
                        <a:buNone/>
                      </a:pPr>
                      <a:r>
                        <a:rPr lang="en-US" sz="950" b="1" dirty="0">
                          <a:solidFill>
                            <a:srgbClr val="DC2626"/>
                          </a:solidFill>
                          <a:latin typeface="Segoe UI" pitchFamily="34" charset="0"/>
                          <a:ea typeface="Segoe UI" pitchFamily="34" charset="-122"/>
                          <a:cs typeface="Segoe UI" pitchFamily="34" charset="-120"/>
                        </a:rPr>
                        <a:t>(Đầy đủ POI nhỏ, quán ăn địa phương, bản làng, mùa hoa)</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556260">
                <a:tc>
                  <a:txBody>
                    <a:bodyPr/>
                    <a:lstStyle/>
                    <a:p>
                      <a:pPr marL="0" indent="0" algn="l">
                        <a:buNone/>
                      </a:pPr>
                      <a:r>
                        <a:rPr lang="en-US" sz="950" b="1" dirty="0">
                          <a:solidFill>
                            <a:srgbClr val="000000"/>
                          </a:solidFill>
                          <a:latin typeface="Segoe UI" pitchFamily="34" charset="0"/>
                          <a:ea typeface="Segoe UI" pitchFamily="34" charset="-122"/>
                          <a:cs typeface="Segoe UI" pitchFamily="34" charset="-120"/>
                        </a:rPr>
                        <a:t>Lập lịch trình bằng AI</a:t>
                      </a:r>
                      <a:endParaRPr lang="en-US" sz="950" dirty="0">
                        <a:latin typeface="Segoe UI" charset="0"/>
                        <a:ea typeface="Segoe UI" charset="0"/>
                        <a:cs typeface="Segoe UI" charset="0"/>
                      </a:endParaRPr>
                    </a:p>
                    <a:p>
                      <a:pPr marL="0" indent="0" algn="l">
                        <a:buNone/>
                      </a:pPr>
                      <a:r>
                        <a:rPr lang="en-US" sz="950" b="1" dirty="0">
                          <a:solidFill>
                            <a:srgbClr val="000000"/>
                          </a:solidFill>
                          <a:latin typeface="Segoe UI" pitchFamily="34" charset="0"/>
                          <a:ea typeface="Segoe UI" pitchFamily="34" charset="-122"/>
                          <a:cs typeface="Segoe UI" pitchFamily="34" charset="-120"/>
                        </a:rPr>
                        <a:t>(Smart Itinerary)</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950" dirty="0">
                          <a:solidFill>
                            <a:srgbClr val="000000"/>
                          </a:solidFill>
                          <a:latin typeface="Segoe UI" pitchFamily="34" charset="0"/>
                          <a:ea typeface="Segoe UI" pitchFamily="34" charset="-122"/>
                          <a:cs typeface="Segoe UI" pitchFamily="34" charset="-120"/>
                        </a:rPr>
                        <a:t>Không có</a:t>
                      </a:r>
                      <a:endParaRPr lang="en-US" sz="950" dirty="0">
                        <a:latin typeface="Segoe UI" charset="0"/>
                        <a:ea typeface="Segoe UI" charset="0"/>
                        <a:cs typeface="Segoe UI" charset="0"/>
                      </a:endParaRPr>
                    </a:p>
                    <a:p>
                      <a:pPr marL="0" indent="0" algn="l">
                        <a:buNone/>
                      </a:pPr>
                      <a:r>
                        <a:rPr lang="en-US" sz="950" dirty="0">
                          <a:solidFill>
                            <a:srgbClr val="000000"/>
                          </a:solidFill>
                          <a:latin typeface="Segoe UI" pitchFamily="34" charset="0"/>
                          <a:ea typeface="Segoe UI" pitchFamily="34" charset="-122"/>
                          <a:cs typeface="Segoe UI" pitchFamily="34" charset="-120"/>
                        </a:rPr>
                        <a:t>(Chỉ chỉ đường từng chặng)</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950" dirty="0">
                          <a:solidFill>
                            <a:srgbClr val="000000"/>
                          </a:solidFill>
                          <a:latin typeface="Segoe UI" pitchFamily="34" charset="0"/>
                          <a:ea typeface="Segoe UI" pitchFamily="34" charset="-122"/>
                          <a:cs typeface="Segoe UI" pitchFamily="34" charset="-120"/>
                        </a:rPr>
                        <a:t>Không có</a:t>
                      </a:r>
                      <a:endParaRPr lang="en-US" sz="950" dirty="0">
                        <a:latin typeface="Segoe UI" charset="0"/>
                        <a:ea typeface="Segoe UI" charset="0"/>
                        <a:cs typeface="Segoe UI" charset="0"/>
                      </a:endParaRPr>
                    </a:p>
                    <a:p>
                      <a:pPr marL="0" indent="0" algn="l">
                        <a:buNone/>
                      </a:pPr>
                      <a:r>
                        <a:rPr lang="en-US" sz="950" dirty="0">
                          <a:solidFill>
                            <a:srgbClr val="000000"/>
                          </a:solidFill>
                          <a:latin typeface="Segoe UI" pitchFamily="34" charset="0"/>
                          <a:ea typeface="Segoe UI" pitchFamily="34" charset="-122"/>
                          <a:cs typeface="Segoe UI" pitchFamily="34" charset="-120"/>
                        </a:rPr>
                        <a:t>(Chỉ đặt dịch vụ riêng lẻ)</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950" b="1" dirty="0">
                          <a:solidFill>
                            <a:srgbClr val="DC2626"/>
                          </a:solidFill>
                          <a:latin typeface="Segoe UI" pitchFamily="34" charset="0"/>
                          <a:ea typeface="Segoe UI" pitchFamily="34" charset="-122"/>
                          <a:cs typeface="Segoe UI" pitchFamily="34" charset="-120"/>
                        </a:rPr>
                        <a:t>AI chuyên biệt ★★★</a:t>
                      </a:r>
                      <a:endParaRPr lang="en-US" sz="950" dirty="0">
                        <a:latin typeface="Segoe UI" charset="0"/>
                        <a:ea typeface="Segoe UI" charset="0"/>
                        <a:cs typeface="Segoe UI" charset="0"/>
                      </a:endParaRPr>
                    </a:p>
                    <a:p>
                      <a:pPr marL="0" indent="0" algn="l">
                        <a:buNone/>
                      </a:pPr>
                      <a:r>
                        <a:rPr lang="en-US" sz="950" b="1" dirty="0">
                          <a:solidFill>
                            <a:srgbClr val="DC2626"/>
                          </a:solidFill>
                          <a:latin typeface="Segoe UI" pitchFamily="34" charset="0"/>
                          <a:ea typeface="Segoe UI" pitchFamily="34" charset="-122"/>
                          <a:cs typeface="Segoe UI" pitchFamily="34" charset="-120"/>
                        </a:rPr>
                        <a:t>(Tối ưu ngân sách, số người, sở thích và nhịp độ)</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556260">
                <a:tc>
                  <a:txBody>
                    <a:bodyPr/>
                    <a:lstStyle/>
                    <a:p>
                      <a:pPr marL="0" indent="0" algn="l">
                        <a:buNone/>
                      </a:pPr>
                      <a:r>
                        <a:rPr lang="en-US" sz="950" b="1" dirty="0">
                          <a:solidFill>
                            <a:srgbClr val="000000"/>
                          </a:solidFill>
                          <a:latin typeface="Segoe UI" pitchFamily="34" charset="0"/>
                          <a:ea typeface="Segoe UI" pitchFamily="34" charset="-122"/>
                          <a:cs typeface="Segoe UI" pitchFamily="34" charset="-120"/>
                        </a:rPr>
                        <a:t>Chế độ hoạt động Ngoại tuyến</a:t>
                      </a:r>
                      <a:endParaRPr lang="en-US" sz="950" dirty="0">
                        <a:latin typeface="Segoe UI" charset="0"/>
                        <a:ea typeface="Segoe UI" charset="0"/>
                        <a:cs typeface="Segoe UI" charset="0"/>
                      </a:endParaRPr>
                    </a:p>
                    <a:p>
                      <a:pPr marL="0" indent="0" algn="l">
                        <a:buNone/>
                      </a:pPr>
                      <a:r>
                        <a:rPr lang="en-US" sz="950" b="1" dirty="0">
                          <a:solidFill>
                            <a:srgbClr val="000000"/>
                          </a:solidFill>
                          <a:latin typeface="Segoe UI" pitchFamily="34" charset="0"/>
                          <a:ea typeface="Segoe UI" pitchFamily="34" charset="-122"/>
                          <a:cs typeface="Segoe UI" pitchFamily="34" charset="-120"/>
                        </a:rPr>
                        <a:t>(Offline-First)</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950" dirty="0">
                          <a:solidFill>
                            <a:srgbClr val="000000"/>
                          </a:solidFill>
                          <a:latin typeface="Segoe UI" pitchFamily="34" charset="0"/>
                          <a:ea typeface="Segoe UI" pitchFamily="34" charset="-122"/>
                          <a:cs typeface="Segoe UI" pitchFamily="34" charset="-120"/>
                        </a:rPr>
                        <a:t>Hạn chế</a:t>
                      </a:r>
                      <a:endParaRPr lang="en-US" sz="950" dirty="0">
                        <a:latin typeface="Segoe UI" charset="0"/>
                        <a:ea typeface="Segoe UI" charset="0"/>
                        <a:cs typeface="Segoe UI" charset="0"/>
                      </a:endParaRPr>
                    </a:p>
                    <a:p>
                      <a:pPr marL="0" indent="0" algn="l">
                        <a:buNone/>
                      </a:pPr>
                      <a:r>
                        <a:rPr lang="en-US" sz="950" dirty="0">
                          <a:solidFill>
                            <a:srgbClr val="000000"/>
                          </a:solidFill>
                          <a:latin typeface="Segoe UI" pitchFamily="34" charset="0"/>
                          <a:ea typeface="Segoe UI" pitchFamily="34" charset="-122"/>
                          <a:cs typeface="Segoe UI" pitchFamily="34" charset="-120"/>
                        </a:rPr>
                        <a:t>(Tải map nặng, không có cẩm nang)</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950" dirty="0">
                          <a:solidFill>
                            <a:srgbClr val="000000"/>
                          </a:solidFill>
                          <a:latin typeface="Segoe UI" pitchFamily="34" charset="0"/>
                          <a:ea typeface="Segoe UI" pitchFamily="34" charset="-122"/>
                          <a:cs typeface="Segoe UI" pitchFamily="34" charset="-120"/>
                        </a:rPr>
                        <a:t>Không hoạt động</a:t>
                      </a:r>
                      <a:endParaRPr lang="en-US" sz="950" dirty="0">
                        <a:latin typeface="Segoe UI" charset="0"/>
                        <a:ea typeface="Segoe UI" charset="0"/>
                        <a:cs typeface="Segoe UI" charset="0"/>
                      </a:endParaRPr>
                    </a:p>
                    <a:p>
                      <a:pPr marL="0" indent="0" algn="l">
                        <a:buNone/>
                      </a:pPr>
                      <a:r>
                        <a:rPr lang="en-US" sz="950" dirty="0">
                          <a:solidFill>
                            <a:srgbClr val="000000"/>
                          </a:solidFill>
                          <a:latin typeface="Segoe UI" pitchFamily="34" charset="0"/>
                          <a:ea typeface="Segoe UI" pitchFamily="34" charset="-122"/>
                          <a:cs typeface="Segoe UI" pitchFamily="34" charset="-120"/>
                        </a:rPr>
                        <a:t>(Bắt buộc có internet)</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950" b="1" dirty="0">
                          <a:solidFill>
                            <a:srgbClr val="DC2626"/>
                          </a:solidFill>
                          <a:latin typeface="Segoe UI" pitchFamily="34" charset="0"/>
                          <a:ea typeface="Segoe UI" pitchFamily="34" charset="-122"/>
                          <a:cs typeface="Segoe UI" pitchFamily="34" charset="-120"/>
                        </a:rPr>
                        <a:t>Hoạt động toàn diện ★★★</a:t>
                      </a:r>
                      <a:endParaRPr lang="en-US" sz="950" dirty="0">
                        <a:latin typeface="Segoe UI" charset="0"/>
                        <a:ea typeface="Segoe UI" charset="0"/>
                        <a:cs typeface="Segoe UI" charset="0"/>
                      </a:endParaRPr>
                    </a:p>
                    <a:p>
                      <a:pPr marL="0" indent="0" algn="l">
                        <a:buNone/>
                      </a:pPr>
                      <a:r>
                        <a:rPr lang="en-US" sz="950" b="1" dirty="0">
                          <a:solidFill>
                            <a:srgbClr val="DC2626"/>
                          </a:solidFill>
                          <a:latin typeface="Segoe UI" pitchFamily="34" charset="0"/>
                          <a:ea typeface="Segoe UI" pitchFamily="34" charset="-122"/>
                          <a:cs typeface="Segoe UI" pitchFamily="34" charset="-120"/>
                        </a:rPr>
                        <a:t>(Lưu cẩm nang &amp; lịch trình ngay trên web)</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556260">
                <a:tc>
                  <a:txBody>
                    <a:bodyPr/>
                    <a:lstStyle/>
                    <a:p>
                      <a:pPr marL="0" indent="0" algn="l">
                        <a:buNone/>
                      </a:pPr>
                      <a:r>
                        <a:rPr lang="en-US" sz="950" b="1" dirty="0">
                          <a:solidFill>
                            <a:srgbClr val="000000"/>
                          </a:solidFill>
                          <a:latin typeface="Segoe UI" pitchFamily="34" charset="0"/>
                          <a:ea typeface="Segoe UI" pitchFamily="34" charset="-122"/>
                          <a:cs typeface="Segoe UI" pitchFamily="34" charset="-120"/>
                        </a:rPr>
                        <a:t>Văn hóa &amp; Audio Guide</a:t>
                      </a:r>
                      <a:endParaRPr lang="en-US" sz="950" dirty="0">
                        <a:latin typeface="Segoe UI" charset="0"/>
                        <a:ea typeface="Segoe UI" charset="0"/>
                        <a:cs typeface="Segoe UI" charset="0"/>
                      </a:endParaRPr>
                    </a:p>
                    <a:p>
                      <a:pPr marL="0" indent="0" algn="l">
                        <a:buNone/>
                      </a:pPr>
                      <a:r>
                        <a:rPr lang="en-US" sz="950" b="1" dirty="0">
                          <a:solidFill>
                            <a:srgbClr val="000000"/>
                          </a:solidFill>
                          <a:latin typeface="Segoe UI" pitchFamily="34" charset="0"/>
                          <a:ea typeface="Segoe UI" pitchFamily="34" charset="-122"/>
                          <a:cs typeface="Segoe UI" pitchFamily="34" charset="-120"/>
                        </a:rPr>
                        <a:t>(Cultural Heritage)</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950" dirty="0">
                          <a:solidFill>
                            <a:srgbClr val="000000"/>
                          </a:solidFill>
                          <a:latin typeface="Segoe UI" pitchFamily="34" charset="0"/>
                          <a:ea typeface="Segoe UI" pitchFamily="34" charset="-122"/>
                          <a:cs typeface="Segoe UI" pitchFamily="34" charset="-120"/>
                        </a:rPr>
                        <a:t>Không có</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950" dirty="0">
                          <a:solidFill>
                            <a:srgbClr val="000000"/>
                          </a:solidFill>
                          <a:latin typeface="Segoe UI" pitchFamily="34" charset="0"/>
                          <a:ea typeface="Segoe UI" pitchFamily="34" charset="-122"/>
                          <a:cs typeface="Segoe UI" pitchFamily="34" charset="-120"/>
                        </a:rPr>
                        <a:t>Không có</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950" b="1" dirty="0">
                          <a:solidFill>
                            <a:srgbClr val="DC2626"/>
                          </a:solidFill>
                          <a:latin typeface="Segoe UI" pitchFamily="34" charset="0"/>
                          <a:ea typeface="Segoe UI" pitchFamily="34" charset="-122"/>
                          <a:cs typeface="Segoe UI" pitchFamily="34" charset="-120"/>
                        </a:rPr>
                        <a:t>Thuyết minh bản địa ★★★</a:t>
                      </a:r>
                      <a:endParaRPr lang="en-US" sz="950" dirty="0">
                        <a:latin typeface="Segoe UI" charset="0"/>
                        <a:ea typeface="Segoe UI" charset="0"/>
                        <a:cs typeface="Segoe UI" charset="0"/>
                      </a:endParaRPr>
                    </a:p>
                    <a:p>
                      <a:pPr marL="0" indent="0" algn="l">
                        <a:buNone/>
                      </a:pPr>
                      <a:r>
                        <a:rPr lang="en-US" sz="950" b="1" dirty="0">
                          <a:solidFill>
                            <a:srgbClr val="DC2626"/>
                          </a:solidFill>
                          <a:latin typeface="Segoe UI" pitchFamily="34" charset="0"/>
                          <a:ea typeface="Segoe UI" pitchFamily="34" charset="-122"/>
                          <a:cs typeface="Segoe UI" pitchFamily="34" charset="-120"/>
                        </a:rPr>
                        <a:t>(Di sản cồng chiêng, từ vựng Jrai, lịch lễ hội)</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556260">
                <a:tc>
                  <a:txBody>
                    <a:bodyPr/>
                    <a:lstStyle/>
                    <a:p>
                      <a:pPr marL="0" indent="0" algn="l">
                        <a:buNone/>
                      </a:pPr>
                      <a:r>
                        <a:rPr lang="en-US" sz="950" b="1" dirty="0">
                          <a:solidFill>
                            <a:srgbClr val="000000"/>
                          </a:solidFill>
                          <a:latin typeface="Segoe UI" pitchFamily="34" charset="0"/>
                          <a:ea typeface="Segoe UI" pitchFamily="34" charset="-122"/>
                          <a:cs typeface="Segoe UI" pitchFamily="34" charset="-120"/>
                        </a:rPr>
                        <a:t>Chi phí hoa hồng dịch vụ</a:t>
                      </a:r>
                      <a:endParaRPr lang="en-US" sz="950" dirty="0">
                        <a:latin typeface="Segoe UI" charset="0"/>
                        <a:ea typeface="Segoe UI" charset="0"/>
                        <a:cs typeface="Segoe UI" charset="0"/>
                      </a:endParaRPr>
                    </a:p>
                    <a:p>
                      <a:pPr marL="0" indent="0" algn="l">
                        <a:buNone/>
                      </a:pPr>
                      <a:r>
                        <a:rPr lang="en-US" sz="950" b="1" dirty="0">
                          <a:solidFill>
                            <a:srgbClr val="000000"/>
                          </a:solidFill>
                          <a:latin typeface="Segoe UI" pitchFamily="34" charset="0"/>
                          <a:ea typeface="Segoe UI" pitchFamily="34" charset="-122"/>
                          <a:cs typeface="Segoe UI" pitchFamily="34" charset="-120"/>
                        </a:rPr>
                        <a:t>(Commission rate)</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950" dirty="0">
                          <a:solidFill>
                            <a:srgbClr val="000000"/>
                          </a:solidFill>
                          <a:latin typeface="Segoe UI" pitchFamily="34" charset="0"/>
                          <a:ea typeface="Segoe UI" pitchFamily="34" charset="-122"/>
                          <a:cs typeface="Segoe UI" pitchFamily="34" charset="-120"/>
                        </a:rPr>
                        <a:t>Không áp dụng</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950" dirty="0">
                          <a:solidFill>
                            <a:srgbClr val="000000"/>
                          </a:solidFill>
                          <a:latin typeface="Segoe UI" pitchFamily="34" charset="0"/>
                          <a:ea typeface="Segoe UI" pitchFamily="34" charset="-122"/>
                          <a:cs typeface="Segoe UI" pitchFamily="34" charset="-120"/>
                        </a:rPr>
                        <a:t>Rất cao (18% - 25%)</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950" b="1" dirty="0">
                          <a:solidFill>
                            <a:srgbClr val="DC2626"/>
                          </a:solidFill>
                          <a:latin typeface="Segoe UI" pitchFamily="34" charset="0"/>
                          <a:ea typeface="Segoe UI" pitchFamily="34" charset="-122"/>
                          <a:cs typeface="Segoe UI" pitchFamily="34" charset="-120"/>
                        </a:rPr>
                        <a:t>Hợp lý (8% - 10%) ★★★</a:t>
                      </a:r>
                      <a:endParaRPr lang="en-US" sz="950" dirty="0">
                        <a:latin typeface="Segoe UI" charset="0"/>
                        <a:ea typeface="Segoe UI" charset="0"/>
                        <a:cs typeface="Segoe UI" charset="0"/>
                      </a:endParaRPr>
                    </a:p>
                    <a:p>
                      <a:pPr marL="0" indent="0" algn="l">
                        <a:buNone/>
                      </a:pPr>
                      <a:r>
                        <a:rPr lang="en-US" sz="950" b="1" dirty="0">
                          <a:solidFill>
                            <a:srgbClr val="DC2626"/>
                          </a:solidFill>
                          <a:latin typeface="Segoe UI" pitchFamily="34" charset="0"/>
                          <a:ea typeface="Segoe UI" pitchFamily="34" charset="-122"/>
                          <a:cs typeface="Segoe UI" pitchFamily="34" charset="-120"/>
                        </a:rPr>
                        <a:t>(Bảo vệ lợi nhuận đối tác bản địa)</a:t>
                      </a:r>
                      <a:endParaRPr lang="en-US" sz="950" dirty="0">
                        <a:latin typeface="Segoe UI" charset="0"/>
                        <a:ea typeface="Segoe UI" charset="0"/>
                        <a:cs typeface="Segoe UI" charset="0"/>
                      </a:endParaRPr>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C2626"/>
          </a:solidFill>
          <a:ln w="12700">
            <a:solidFill>
              <a:srgbClr val="DC2626"/>
            </a:solidFill>
            <a:prstDash val="solid"/>
          </a:ln>
        </p:spPr>
        <p:txBody>
          <a:bodyPr/>
          <a:lstStyle/>
          <a:p>
            <a:endParaRPr lang="vi-VN"/>
          </a:p>
        </p:txBody>
      </p:sp>
      <p:sp>
        <p:nvSpPr>
          <p:cNvPr id="3" name="Text 1"/>
          <p:cNvSpPr/>
          <p:nvPr/>
        </p:nvSpPr>
        <p:spPr>
          <a:xfrm>
            <a:off x="731520" y="320040"/>
            <a:ext cx="6400800" cy="274320"/>
          </a:xfrm>
          <a:prstGeom prst="rect">
            <a:avLst/>
          </a:prstGeom>
          <a:noFill/>
          <a:ln/>
        </p:spPr>
        <p:txBody>
          <a:bodyPr wrap="square" rtlCol="0" anchor="ctr"/>
          <a:lstStyle/>
          <a:p>
            <a:pPr marL="0" indent="0">
              <a:buNone/>
            </a:pPr>
            <a:r>
              <a:rPr lang="en-US" sz="1000" b="1" dirty="0">
                <a:solidFill>
                  <a:srgbClr val="DC2626"/>
                </a:solidFill>
                <a:latin typeface="Segoe UI" pitchFamily="34" charset="0"/>
                <a:ea typeface="Segoe UI" pitchFamily="34" charset="-122"/>
                <a:cs typeface="Segoe UI" pitchFamily="34" charset="-120"/>
              </a:rPr>
              <a:t>10. LỘ TRÌNH PHÁT TRIỂN</a:t>
            </a:r>
            <a:endParaRPr lang="en-US" sz="1000" dirty="0"/>
          </a:p>
        </p:txBody>
      </p:sp>
      <p:sp>
        <p:nvSpPr>
          <p:cNvPr id="4" name="Text 2"/>
          <p:cNvSpPr/>
          <p:nvPr/>
        </p:nvSpPr>
        <p:spPr>
          <a:xfrm>
            <a:off x="731520" y="594360"/>
            <a:ext cx="6858000" cy="457200"/>
          </a:xfrm>
          <a:prstGeom prst="rect">
            <a:avLst/>
          </a:prstGeom>
          <a:noFill/>
          <a:ln/>
        </p:spPr>
        <p:txBody>
          <a:bodyPr wrap="square" rtlCol="0" anchor="ctr"/>
          <a:lstStyle/>
          <a:p>
            <a:pPr marL="0" indent="0">
              <a:buNone/>
            </a:pPr>
            <a:r>
              <a:rPr lang="en-US" sz="2200" b="1" dirty="0">
                <a:solidFill>
                  <a:srgbClr val="1E3A8A"/>
                </a:solidFill>
                <a:latin typeface="Segoe UI" pitchFamily="34" charset="0"/>
                <a:ea typeface="Segoe UI" pitchFamily="34" charset="-122"/>
                <a:cs typeface="Segoe UI" pitchFamily="34" charset="-120"/>
              </a:rPr>
              <a:t>Kế Hoạch Triển Khai 3 Giai Đoạn (2026 - 2028)</a:t>
            </a:r>
            <a:endParaRPr lang="en-US" sz="2200" dirty="0"/>
          </a:p>
        </p:txBody>
      </p:sp>
      <p:sp>
        <p:nvSpPr>
          <p:cNvPr id="5" name="Text 3"/>
          <p:cNvSpPr/>
          <p:nvPr/>
        </p:nvSpPr>
        <p:spPr>
          <a:xfrm>
            <a:off x="6217920" y="320040"/>
            <a:ext cx="2194560" cy="274320"/>
          </a:xfrm>
          <a:prstGeom prst="rect">
            <a:avLst/>
          </a:prstGeom>
          <a:noFill/>
          <a:ln/>
        </p:spPr>
        <p:txBody>
          <a:bodyPr wrap="square" rtlCol="0" anchor="ctr"/>
          <a:lstStyle/>
          <a:p>
            <a:pPr marL="0" indent="0" algn="r">
              <a:buNone/>
            </a:pPr>
            <a:r>
              <a:rPr lang="en-US" sz="900" dirty="0">
                <a:solidFill>
                  <a:srgbClr val="475569"/>
                </a:solidFill>
                <a:latin typeface="Segoe UI" pitchFamily="34" charset="0"/>
                <a:ea typeface="Segoe UI" pitchFamily="34" charset="-122"/>
                <a:cs typeface="Segoe UI" pitchFamily="34" charset="-120"/>
              </a:rPr>
              <a:t>11 | GiaLai Travel Pitch Deck</a:t>
            </a:r>
            <a:endParaRPr lang="en-US" sz="900" dirty="0"/>
          </a:p>
        </p:txBody>
      </p:sp>
      <p:sp>
        <p:nvSpPr>
          <p:cNvPr id="6" name="Shape 4"/>
          <p:cNvSpPr/>
          <p:nvPr/>
        </p:nvSpPr>
        <p:spPr>
          <a:xfrm>
            <a:off x="731520" y="1097280"/>
            <a:ext cx="7680960" cy="0"/>
          </a:xfrm>
          <a:prstGeom prst="line">
            <a:avLst/>
          </a:prstGeom>
          <a:noFill/>
          <a:ln w="19050">
            <a:solidFill>
              <a:srgbClr val="E2E8F0"/>
            </a:solidFill>
            <a:prstDash val="solid"/>
          </a:ln>
        </p:spPr>
        <p:txBody>
          <a:bodyPr/>
          <a:lstStyle/>
          <a:p>
            <a:endParaRPr lang="vi-VN"/>
          </a:p>
        </p:txBody>
      </p:sp>
      <p:sp>
        <p:nvSpPr>
          <p:cNvPr id="7" name="Shape 5"/>
          <p:cNvSpPr/>
          <p:nvPr/>
        </p:nvSpPr>
        <p:spPr>
          <a:xfrm>
            <a:off x="731520" y="1325880"/>
            <a:ext cx="2468880" cy="3429000"/>
          </a:xfrm>
          <a:prstGeom prst="roundRect">
            <a:avLst>
              <a:gd name="adj" fmla="val 4444"/>
            </a:avLst>
          </a:prstGeom>
          <a:solidFill>
            <a:srgbClr val="FFFFFF"/>
          </a:solidFill>
          <a:ln w="25400">
            <a:solidFill>
              <a:srgbClr val="0047AB"/>
            </a:solidFill>
            <a:prstDash val="solid"/>
          </a:ln>
        </p:spPr>
        <p:txBody>
          <a:bodyPr/>
          <a:lstStyle/>
          <a:p>
            <a:endParaRPr lang="vi-VN"/>
          </a:p>
        </p:txBody>
      </p:sp>
      <p:sp>
        <p:nvSpPr>
          <p:cNvPr id="8" name="Shape 6"/>
          <p:cNvSpPr/>
          <p:nvPr/>
        </p:nvSpPr>
        <p:spPr>
          <a:xfrm>
            <a:off x="731520" y="1325880"/>
            <a:ext cx="2468880" cy="457200"/>
          </a:xfrm>
          <a:prstGeom prst="rect">
            <a:avLst/>
          </a:prstGeom>
          <a:solidFill>
            <a:srgbClr val="0047AB"/>
          </a:solidFill>
          <a:ln/>
        </p:spPr>
        <p:txBody>
          <a:bodyPr/>
          <a:lstStyle/>
          <a:p>
            <a:endParaRPr lang="vi-VN"/>
          </a:p>
        </p:txBody>
      </p:sp>
      <p:sp>
        <p:nvSpPr>
          <p:cNvPr id="9" name="Text 7"/>
          <p:cNvSpPr/>
          <p:nvPr/>
        </p:nvSpPr>
        <p:spPr>
          <a:xfrm>
            <a:off x="731520" y="1325880"/>
            <a:ext cx="2468880" cy="256032"/>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GIAI ĐOẠN 1 (ĐÃ ĐẠT ĐƯỢC)</a:t>
            </a:r>
            <a:endParaRPr lang="en-US" sz="950" dirty="0"/>
          </a:p>
        </p:txBody>
      </p:sp>
      <p:sp>
        <p:nvSpPr>
          <p:cNvPr id="10" name="Text 8"/>
          <p:cNvSpPr/>
          <p:nvPr/>
        </p:nvSpPr>
        <p:spPr>
          <a:xfrm>
            <a:off x="731520" y="1554480"/>
            <a:ext cx="2468880" cy="201168"/>
          </a:xfrm>
          <a:prstGeom prst="rect">
            <a:avLst/>
          </a:prstGeom>
          <a:noFill/>
          <a:ln/>
        </p:spPr>
        <p:txBody>
          <a:bodyPr wrap="square" rtlCol="0" anchor="ctr"/>
          <a:lstStyle/>
          <a:p>
            <a:pPr marL="0" indent="0" algn="ctr">
              <a:buNone/>
            </a:pPr>
            <a:r>
              <a:rPr lang="en-US" sz="850" dirty="0">
                <a:solidFill>
                  <a:srgbClr val="E2E8F0"/>
                </a:solidFill>
                <a:latin typeface="Segoe UI" pitchFamily="34" charset="0"/>
                <a:ea typeface="Segoe UI" pitchFamily="34" charset="-122"/>
                <a:cs typeface="Segoe UI" pitchFamily="34" charset="-120"/>
              </a:rPr>
              <a:t>Năm 2026 (Hiện tại)</a:t>
            </a:r>
            <a:endParaRPr lang="en-US" sz="850" dirty="0"/>
          </a:p>
        </p:txBody>
      </p:sp>
      <p:sp>
        <p:nvSpPr>
          <p:cNvPr id="11" name="Shape 9"/>
          <p:cNvSpPr/>
          <p:nvPr/>
        </p:nvSpPr>
        <p:spPr>
          <a:xfrm>
            <a:off x="822960" y="1874520"/>
            <a:ext cx="2286000" cy="292608"/>
          </a:xfrm>
          <a:prstGeom prst="roundRect">
            <a:avLst>
              <a:gd name="adj" fmla="val 15625"/>
            </a:avLst>
          </a:prstGeom>
          <a:solidFill>
            <a:srgbClr val="F8FAFC"/>
          </a:solidFill>
          <a:ln w="12700">
            <a:solidFill>
              <a:srgbClr val="0047AB"/>
            </a:solidFill>
            <a:prstDash val="solid"/>
          </a:ln>
        </p:spPr>
        <p:txBody>
          <a:bodyPr/>
          <a:lstStyle/>
          <a:p>
            <a:endParaRPr lang="vi-VN"/>
          </a:p>
        </p:txBody>
      </p:sp>
      <p:sp>
        <p:nvSpPr>
          <p:cNvPr id="12" name="Text 10"/>
          <p:cNvSpPr/>
          <p:nvPr/>
        </p:nvSpPr>
        <p:spPr>
          <a:xfrm>
            <a:off x="822960" y="1874520"/>
            <a:ext cx="2286000" cy="292608"/>
          </a:xfrm>
          <a:prstGeom prst="rect">
            <a:avLst/>
          </a:prstGeom>
          <a:noFill/>
          <a:ln/>
        </p:spPr>
        <p:txBody>
          <a:bodyPr wrap="square" rtlCol="0" anchor="ctr"/>
          <a:lstStyle/>
          <a:p>
            <a:pPr marL="0" indent="0" algn="ctr">
              <a:buNone/>
            </a:pPr>
            <a:r>
              <a:rPr lang="en-US" sz="850" b="1" dirty="0">
                <a:solidFill>
                  <a:srgbClr val="0047AB"/>
                </a:solidFill>
                <a:latin typeface="Segoe UI" pitchFamily="34" charset="0"/>
                <a:ea typeface="Segoe UI" pitchFamily="34" charset="-122"/>
                <a:cs typeface="Segoe UI" pitchFamily="34" charset="-120"/>
              </a:rPr>
              <a:t>✅ ĐÃ HOÀN THÀNH &amp; DEMO LIVE</a:t>
            </a:r>
            <a:endParaRPr lang="en-US" sz="850" dirty="0"/>
          </a:p>
        </p:txBody>
      </p:sp>
      <p:sp>
        <p:nvSpPr>
          <p:cNvPr id="13" name="Text 11"/>
          <p:cNvSpPr/>
          <p:nvPr/>
        </p:nvSpPr>
        <p:spPr>
          <a:xfrm>
            <a:off x="868680" y="2240280"/>
            <a:ext cx="2194560" cy="2423160"/>
          </a:xfrm>
          <a:prstGeom prst="rect">
            <a:avLst/>
          </a:prstGeom>
          <a:noFill/>
          <a:ln/>
        </p:spPr>
        <p:txBody>
          <a:bodyPr wrap="square" rtlCol="0" anchor="ctr"/>
          <a:lstStyle/>
          <a:p>
            <a:pPr marL="0" indent="0">
              <a:buNone/>
            </a:pPr>
            <a:r>
              <a:rPr lang="en-US" sz="900" dirty="0">
                <a:solidFill>
                  <a:srgbClr val="0F172A"/>
                </a:solidFill>
                <a:latin typeface="Segoe UI" pitchFamily="34" charset="0"/>
                <a:ea typeface="Segoe UI" pitchFamily="34" charset="-122"/>
                <a:cs typeface="Segoe UI" pitchFamily="34" charset="-120"/>
              </a:rPr>
              <a:t>• Ra mắt Web Responsive chạy live trên gialaitravel.yangkleeserver.io.vn.
• Số hóa 50+ điểm đến tiêu biểu tại Pleiku, Chư Păh, Kbang...
• Tích hợp Trợ lý AI lập lịch trình cá nhân hóa v1.
• Hoàn thiện cơ chế Offline cơ bản lưu trữ Local Storage.
• Hệ thống quản trị Content Management &amp; bảo mật tài khoản JWT.
</a:t>
            </a:r>
            <a:endParaRPr lang="en-US" sz="900" dirty="0"/>
          </a:p>
        </p:txBody>
      </p:sp>
      <p:sp>
        <p:nvSpPr>
          <p:cNvPr id="14" name="Shape 12"/>
          <p:cNvSpPr/>
          <p:nvPr/>
        </p:nvSpPr>
        <p:spPr>
          <a:xfrm>
            <a:off x="3337560" y="1325880"/>
            <a:ext cx="2468880" cy="3429000"/>
          </a:xfrm>
          <a:prstGeom prst="roundRect">
            <a:avLst>
              <a:gd name="adj" fmla="val 4444"/>
            </a:avLst>
          </a:prstGeom>
          <a:solidFill>
            <a:srgbClr val="FFFFFF"/>
          </a:solidFill>
          <a:ln w="25400">
            <a:solidFill>
              <a:srgbClr val="DC2626"/>
            </a:solidFill>
            <a:prstDash val="solid"/>
          </a:ln>
        </p:spPr>
        <p:txBody>
          <a:bodyPr/>
          <a:lstStyle/>
          <a:p>
            <a:endParaRPr lang="vi-VN"/>
          </a:p>
        </p:txBody>
      </p:sp>
      <p:sp>
        <p:nvSpPr>
          <p:cNvPr id="15" name="Shape 13"/>
          <p:cNvSpPr/>
          <p:nvPr/>
        </p:nvSpPr>
        <p:spPr>
          <a:xfrm>
            <a:off x="3337560" y="1325880"/>
            <a:ext cx="2468880" cy="457200"/>
          </a:xfrm>
          <a:prstGeom prst="rect">
            <a:avLst/>
          </a:prstGeom>
          <a:solidFill>
            <a:srgbClr val="DC2626"/>
          </a:solidFill>
          <a:ln/>
        </p:spPr>
        <p:txBody>
          <a:bodyPr/>
          <a:lstStyle/>
          <a:p>
            <a:endParaRPr lang="vi-VN"/>
          </a:p>
        </p:txBody>
      </p:sp>
      <p:sp>
        <p:nvSpPr>
          <p:cNvPr id="16" name="Text 14"/>
          <p:cNvSpPr/>
          <p:nvPr/>
        </p:nvSpPr>
        <p:spPr>
          <a:xfrm>
            <a:off x="3337560" y="1325880"/>
            <a:ext cx="2468880" cy="256032"/>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GIAI ĐOẠN 2 (MỞ RỘNG &amp; TĂNG TRƯỞNG)</a:t>
            </a:r>
            <a:endParaRPr lang="en-US" sz="950" dirty="0"/>
          </a:p>
        </p:txBody>
      </p:sp>
      <p:sp>
        <p:nvSpPr>
          <p:cNvPr id="17" name="Text 15"/>
          <p:cNvSpPr/>
          <p:nvPr/>
        </p:nvSpPr>
        <p:spPr>
          <a:xfrm>
            <a:off x="3337560" y="1554480"/>
            <a:ext cx="2468880" cy="201168"/>
          </a:xfrm>
          <a:prstGeom prst="rect">
            <a:avLst/>
          </a:prstGeom>
          <a:noFill/>
          <a:ln/>
        </p:spPr>
        <p:txBody>
          <a:bodyPr wrap="square" rtlCol="0" anchor="ctr"/>
          <a:lstStyle/>
          <a:p>
            <a:pPr marL="0" indent="0" algn="ctr">
              <a:buNone/>
            </a:pPr>
            <a:r>
              <a:rPr lang="en-US" sz="850" dirty="0">
                <a:solidFill>
                  <a:srgbClr val="E2E8F0"/>
                </a:solidFill>
                <a:latin typeface="Segoe UI" pitchFamily="34" charset="0"/>
                <a:ea typeface="Segoe UI" pitchFamily="34" charset="-122"/>
                <a:cs typeface="Segoe UI" pitchFamily="34" charset="-120"/>
              </a:rPr>
              <a:t>Nửa cuối 2026 - 2027</a:t>
            </a:r>
            <a:endParaRPr lang="en-US" sz="850" dirty="0"/>
          </a:p>
        </p:txBody>
      </p:sp>
      <p:sp>
        <p:nvSpPr>
          <p:cNvPr id="18" name="Shape 16"/>
          <p:cNvSpPr/>
          <p:nvPr/>
        </p:nvSpPr>
        <p:spPr>
          <a:xfrm>
            <a:off x="3429000" y="1874520"/>
            <a:ext cx="2286000" cy="292608"/>
          </a:xfrm>
          <a:prstGeom prst="roundRect">
            <a:avLst>
              <a:gd name="adj" fmla="val 15625"/>
            </a:avLst>
          </a:prstGeom>
          <a:solidFill>
            <a:srgbClr val="F8FAFC"/>
          </a:solidFill>
          <a:ln w="12700">
            <a:solidFill>
              <a:srgbClr val="DC2626"/>
            </a:solidFill>
            <a:prstDash val="solid"/>
          </a:ln>
        </p:spPr>
        <p:txBody>
          <a:bodyPr/>
          <a:lstStyle/>
          <a:p>
            <a:endParaRPr lang="vi-VN"/>
          </a:p>
        </p:txBody>
      </p:sp>
      <p:sp>
        <p:nvSpPr>
          <p:cNvPr id="19" name="Text 17"/>
          <p:cNvSpPr/>
          <p:nvPr/>
        </p:nvSpPr>
        <p:spPr>
          <a:xfrm>
            <a:off x="3429000" y="1874520"/>
            <a:ext cx="2286000" cy="292608"/>
          </a:xfrm>
          <a:prstGeom prst="rect">
            <a:avLst/>
          </a:prstGeom>
          <a:noFill/>
          <a:ln/>
        </p:spPr>
        <p:txBody>
          <a:bodyPr wrap="square" rtlCol="0" anchor="ctr"/>
          <a:lstStyle/>
          <a:p>
            <a:pPr marL="0" indent="0" algn="ctr">
              <a:buNone/>
            </a:pPr>
            <a:r>
              <a:rPr lang="en-US" sz="850" b="1" dirty="0">
                <a:solidFill>
                  <a:srgbClr val="DC2626"/>
                </a:solidFill>
                <a:latin typeface="Segoe UI" pitchFamily="34" charset="0"/>
                <a:ea typeface="Segoe UI" pitchFamily="34" charset="-122"/>
                <a:cs typeface="Segoe UI" pitchFamily="34" charset="-120"/>
              </a:rPr>
              <a:t>🚀 KẾ HOẠCH BỨC PHÁ</a:t>
            </a:r>
            <a:endParaRPr lang="en-US" sz="850" dirty="0"/>
          </a:p>
        </p:txBody>
      </p:sp>
      <p:sp>
        <p:nvSpPr>
          <p:cNvPr id="20" name="Text 18"/>
          <p:cNvSpPr/>
          <p:nvPr/>
        </p:nvSpPr>
        <p:spPr>
          <a:xfrm>
            <a:off x="3474720" y="2240280"/>
            <a:ext cx="2194560" cy="2423160"/>
          </a:xfrm>
          <a:prstGeom prst="rect">
            <a:avLst/>
          </a:prstGeom>
          <a:noFill/>
          <a:ln/>
        </p:spPr>
        <p:txBody>
          <a:bodyPr wrap="square" rtlCol="0" anchor="ctr"/>
          <a:lstStyle/>
          <a:p>
            <a:pPr marL="0" indent="0">
              <a:buNone/>
            </a:pPr>
            <a:r>
              <a:rPr lang="en-US" sz="900" dirty="0">
                <a:solidFill>
                  <a:srgbClr val="0F172A"/>
                </a:solidFill>
                <a:latin typeface="Segoe UI" pitchFamily="34" charset="0"/>
                <a:ea typeface="Segoe UI" pitchFamily="34" charset="-122"/>
                <a:cs typeface="Segoe UI" pitchFamily="34" charset="-120"/>
              </a:rPr>
              <a:t>• Ra mắt cổng tự phục vụ dành cho Đối tác bản địa (Partner Portal).
• Nâng cấp Audio Guide đa ngôn ngữ: Tiếng Anh, Tiếng Hàn, Tiếng Trung.
• Tích hợp thanh toán trực tuyến chính thức (VNPAY, MoMo, VietQR).
• Triển khai gói Premium 49k/tháng và hợp tác 100+ Homestay địa phương.
• Chiến dịch Marketing quảng bá du lịch Gia Lai trên TikTok &amp; Facebook.
</a:t>
            </a:r>
            <a:endParaRPr lang="en-US" sz="900" dirty="0"/>
          </a:p>
        </p:txBody>
      </p:sp>
      <p:sp>
        <p:nvSpPr>
          <p:cNvPr id="21" name="Shape 19"/>
          <p:cNvSpPr/>
          <p:nvPr/>
        </p:nvSpPr>
        <p:spPr>
          <a:xfrm>
            <a:off x="5943600" y="1325880"/>
            <a:ext cx="2468880" cy="3429000"/>
          </a:xfrm>
          <a:prstGeom prst="roundRect">
            <a:avLst>
              <a:gd name="adj" fmla="val 4444"/>
            </a:avLst>
          </a:prstGeom>
          <a:solidFill>
            <a:srgbClr val="FFFFFF"/>
          </a:solidFill>
          <a:ln w="25400">
            <a:solidFill>
              <a:srgbClr val="1E3A8A"/>
            </a:solidFill>
            <a:prstDash val="solid"/>
          </a:ln>
        </p:spPr>
        <p:txBody>
          <a:bodyPr/>
          <a:lstStyle/>
          <a:p>
            <a:endParaRPr lang="vi-VN"/>
          </a:p>
        </p:txBody>
      </p:sp>
      <p:sp>
        <p:nvSpPr>
          <p:cNvPr id="22" name="Shape 20"/>
          <p:cNvSpPr/>
          <p:nvPr/>
        </p:nvSpPr>
        <p:spPr>
          <a:xfrm>
            <a:off x="5943600" y="1325880"/>
            <a:ext cx="2468880" cy="457200"/>
          </a:xfrm>
          <a:prstGeom prst="rect">
            <a:avLst/>
          </a:prstGeom>
          <a:solidFill>
            <a:srgbClr val="1E3A8A"/>
          </a:solidFill>
          <a:ln/>
        </p:spPr>
        <p:txBody>
          <a:bodyPr/>
          <a:lstStyle/>
          <a:p>
            <a:endParaRPr lang="vi-VN"/>
          </a:p>
        </p:txBody>
      </p:sp>
      <p:sp>
        <p:nvSpPr>
          <p:cNvPr id="23" name="Text 21"/>
          <p:cNvSpPr/>
          <p:nvPr/>
        </p:nvSpPr>
        <p:spPr>
          <a:xfrm>
            <a:off x="5943600" y="1325880"/>
            <a:ext cx="2468880" cy="256032"/>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GIAI ĐOẠN 3 (LIÊN KẾT VÙNG)</a:t>
            </a:r>
            <a:endParaRPr lang="en-US" sz="950" dirty="0"/>
          </a:p>
        </p:txBody>
      </p:sp>
      <p:sp>
        <p:nvSpPr>
          <p:cNvPr id="24" name="Text 22"/>
          <p:cNvSpPr/>
          <p:nvPr/>
        </p:nvSpPr>
        <p:spPr>
          <a:xfrm>
            <a:off x="5943600" y="1554480"/>
            <a:ext cx="2468880" cy="201168"/>
          </a:xfrm>
          <a:prstGeom prst="rect">
            <a:avLst/>
          </a:prstGeom>
          <a:noFill/>
          <a:ln/>
        </p:spPr>
        <p:txBody>
          <a:bodyPr wrap="square" rtlCol="0" anchor="ctr"/>
          <a:lstStyle/>
          <a:p>
            <a:pPr marL="0" indent="0" algn="ctr">
              <a:buNone/>
            </a:pPr>
            <a:r>
              <a:rPr lang="en-US" sz="850" dirty="0">
                <a:solidFill>
                  <a:srgbClr val="E2E8F0"/>
                </a:solidFill>
                <a:latin typeface="Segoe UI" pitchFamily="34" charset="0"/>
                <a:ea typeface="Segoe UI" pitchFamily="34" charset="-122"/>
                <a:cs typeface="Segoe UI" pitchFamily="34" charset="-120"/>
              </a:rPr>
              <a:t>Năm 2027 - 2028</a:t>
            </a:r>
            <a:endParaRPr lang="en-US" sz="850" dirty="0"/>
          </a:p>
        </p:txBody>
      </p:sp>
      <p:sp>
        <p:nvSpPr>
          <p:cNvPr id="25" name="Shape 23"/>
          <p:cNvSpPr/>
          <p:nvPr/>
        </p:nvSpPr>
        <p:spPr>
          <a:xfrm>
            <a:off x="6035040" y="1874520"/>
            <a:ext cx="2286000" cy="292608"/>
          </a:xfrm>
          <a:prstGeom prst="roundRect">
            <a:avLst>
              <a:gd name="adj" fmla="val 15625"/>
            </a:avLst>
          </a:prstGeom>
          <a:solidFill>
            <a:srgbClr val="F8FAFC"/>
          </a:solidFill>
          <a:ln w="12700">
            <a:solidFill>
              <a:srgbClr val="1E3A8A"/>
            </a:solidFill>
            <a:prstDash val="solid"/>
          </a:ln>
        </p:spPr>
        <p:txBody>
          <a:bodyPr/>
          <a:lstStyle/>
          <a:p>
            <a:endParaRPr lang="vi-VN"/>
          </a:p>
        </p:txBody>
      </p:sp>
      <p:sp>
        <p:nvSpPr>
          <p:cNvPr id="26" name="Text 24"/>
          <p:cNvSpPr/>
          <p:nvPr/>
        </p:nvSpPr>
        <p:spPr>
          <a:xfrm>
            <a:off x="6035040" y="1874520"/>
            <a:ext cx="2286000" cy="292608"/>
          </a:xfrm>
          <a:prstGeom prst="rect">
            <a:avLst/>
          </a:prstGeom>
          <a:noFill/>
          <a:ln/>
        </p:spPr>
        <p:txBody>
          <a:bodyPr wrap="square" rtlCol="0" anchor="ctr"/>
          <a:lstStyle/>
          <a:p>
            <a:pPr marL="0" indent="0" algn="ctr">
              <a:buNone/>
            </a:pPr>
            <a:r>
              <a:rPr lang="en-US" sz="850" b="1" dirty="0">
                <a:solidFill>
                  <a:srgbClr val="1E3A8A"/>
                </a:solidFill>
                <a:latin typeface="Segoe UI" pitchFamily="34" charset="0"/>
                <a:ea typeface="Segoe UI" pitchFamily="34" charset="-122"/>
                <a:cs typeface="Segoe UI" pitchFamily="34" charset="-120"/>
              </a:rPr>
              <a:t>🌟 TẦM NHÌN DÀI HẠN</a:t>
            </a:r>
            <a:endParaRPr lang="en-US" sz="850" dirty="0"/>
          </a:p>
        </p:txBody>
      </p:sp>
      <p:sp>
        <p:nvSpPr>
          <p:cNvPr id="27" name="Text 25"/>
          <p:cNvSpPr/>
          <p:nvPr/>
        </p:nvSpPr>
        <p:spPr>
          <a:xfrm>
            <a:off x="6080760" y="2240280"/>
            <a:ext cx="2194560" cy="2423160"/>
          </a:xfrm>
          <a:prstGeom prst="rect">
            <a:avLst/>
          </a:prstGeom>
          <a:noFill/>
          <a:ln/>
        </p:spPr>
        <p:txBody>
          <a:bodyPr wrap="square" rtlCol="0" anchor="ctr"/>
          <a:lstStyle/>
          <a:p>
            <a:pPr marL="0" indent="0">
              <a:buNone/>
            </a:pPr>
            <a:r>
              <a:rPr lang="en-US" sz="900" dirty="0">
                <a:solidFill>
                  <a:srgbClr val="0F172A"/>
                </a:solidFill>
                <a:latin typeface="Segoe UI" pitchFamily="34" charset="0"/>
                <a:ea typeface="Segoe UI" pitchFamily="34" charset="-122"/>
                <a:cs typeface="Segoe UI" pitchFamily="34" charset="-120"/>
              </a:rPr>
              <a:t>• Mở rộng tuyến du lịch liên tỉnh Tây Nguyên: Gia Lai - Măng Đen (Kon Tum) - Đắk Lắk.
• Ký kết hợp tác chiến lược B2G với Sở Du Lịch tỉnh Gia Lai.
• Ứng dụng AI Chatbot chuyên sâu phân tích thời tiết và dự báo mật độ du khách.
• Đạt mốc 500.000 người dùng tích cực và trở thành ứng dụng du lịch số số 1 Tây Nguyên.
</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C2626"/>
          </a:solidFill>
          <a:ln w="12700">
            <a:solidFill>
              <a:srgbClr val="DC2626"/>
            </a:solidFill>
            <a:prstDash val="solid"/>
          </a:ln>
        </p:spPr>
        <p:txBody>
          <a:bodyPr/>
          <a:lstStyle/>
          <a:p>
            <a:endParaRPr lang="vi-VN"/>
          </a:p>
        </p:txBody>
      </p:sp>
      <p:sp>
        <p:nvSpPr>
          <p:cNvPr id="3" name="Text 1"/>
          <p:cNvSpPr/>
          <p:nvPr/>
        </p:nvSpPr>
        <p:spPr>
          <a:xfrm>
            <a:off x="731520" y="320040"/>
            <a:ext cx="6400800" cy="274320"/>
          </a:xfrm>
          <a:prstGeom prst="rect">
            <a:avLst/>
          </a:prstGeom>
          <a:noFill/>
          <a:ln/>
        </p:spPr>
        <p:txBody>
          <a:bodyPr wrap="square" rtlCol="0" anchor="ctr"/>
          <a:lstStyle/>
          <a:p>
            <a:pPr marL="0" indent="0">
              <a:buNone/>
            </a:pPr>
            <a:r>
              <a:rPr lang="en-US" sz="1000" b="1" dirty="0">
                <a:solidFill>
                  <a:srgbClr val="DC2626"/>
                </a:solidFill>
                <a:latin typeface="Segoe UI" pitchFamily="34" charset="0"/>
                <a:ea typeface="Segoe UI" pitchFamily="34" charset="-122"/>
                <a:cs typeface="Segoe UI" pitchFamily="34" charset="-120"/>
              </a:rPr>
              <a:t>11. ĐỘI NGŨ &amp; KÊU GỌI HỢP TÁC</a:t>
            </a:r>
            <a:endParaRPr lang="en-US" sz="1000" dirty="0"/>
          </a:p>
        </p:txBody>
      </p:sp>
      <p:sp>
        <p:nvSpPr>
          <p:cNvPr id="4" name="Text 2"/>
          <p:cNvSpPr/>
          <p:nvPr/>
        </p:nvSpPr>
        <p:spPr>
          <a:xfrm>
            <a:off x="731520" y="594360"/>
            <a:ext cx="6858000" cy="457200"/>
          </a:xfrm>
          <a:prstGeom prst="rect">
            <a:avLst/>
          </a:prstGeom>
          <a:noFill/>
          <a:ln/>
        </p:spPr>
        <p:txBody>
          <a:bodyPr wrap="square" rtlCol="0" anchor="ctr"/>
          <a:lstStyle/>
          <a:p>
            <a:pPr marL="0" indent="0">
              <a:buNone/>
            </a:pPr>
            <a:r>
              <a:rPr lang="en-US" sz="2200" b="1" dirty="0">
                <a:solidFill>
                  <a:srgbClr val="1E3A8A"/>
                </a:solidFill>
                <a:latin typeface="Segoe UI" pitchFamily="34" charset="0"/>
                <a:ea typeface="Segoe UI" pitchFamily="34" charset="-122"/>
                <a:cs typeface="Segoe UI" pitchFamily="34" charset="-120"/>
              </a:rPr>
              <a:t>Khát Vọng Nâng Tầm Du Lịch Tây Nguyên Cùng GiaLai Travel</a:t>
            </a:r>
            <a:endParaRPr lang="en-US" sz="2200" dirty="0"/>
          </a:p>
        </p:txBody>
      </p:sp>
      <p:sp>
        <p:nvSpPr>
          <p:cNvPr id="5" name="Text 3"/>
          <p:cNvSpPr/>
          <p:nvPr/>
        </p:nvSpPr>
        <p:spPr>
          <a:xfrm>
            <a:off x="6217920" y="320040"/>
            <a:ext cx="2194560" cy="274320"/>
          </a:xfrm>
          <a:prstGeom prst="rect">
            <a:avLst/>
          </a:prstGeom>
          <a:noFill/>
          <a:ln/>
        </p:spPr>
        <p:txBody>
          <a:bodyPr wrap="square" rtlCol="0" anchor="ctr"/>
          <a:lstStyle/>
          <a:p>
            <a:pPr marL="0" indent="0" algn="r">
              <a:buNone/>
            </a:pPr>
            <a:r>
              <a:rPr lang="en-US" sz="900" dirty="0">
                <a:solidFill>
                  <a:srgbClr val="475569"/>
                </a:solidFill>
                <a:latin typeface="Segoe UI" pitchFamily="34" charset="0"/>
                <a:ea typeface="Segoe UI" pitchFamily="34" charset="-122"/>
                <a:cs typeface="Segoe UI" pitchFamily="34" charset="-120"/>
              </a:rPr>
              <a:t>12 | GiaLai Travel Pitch Deck</a:t>
            </a:r>
            <a:endParaRPr lang="en-US" sz="900" dirty="0"/>
          </a:p>
        </p:txBody>
      </p:sp>
      <p:sp>
        <p:nvSpPr>
          <p:cNvPr id="6" name="Shape 4"/>
          <p:cNvSpPr/>
          <p:nvPr/>
        </p:nvSpPr>
        <p:spPr>
          <a:xfrm>
            <a:off x="731520" y="1097280"/>
            <a:ext cx="7680960" cy="0"/>
          </a:xfrm>
          <a:prstGeom prst="line">
            <a:avLst/>
          </a:prstGeom>
          <a:noFill/>
          <a:ln w="19050">
            <a:solidFill>
              <a:srgbClr val="E2E8F0"/>
            </a:solidFill>
            <a:prstDash val="solid"/>
          </a:ln>
        </p:spPr>
        <p:txBody>
          <a:bodyPr/>
          <a:lstStyle/>
          <a:p>
            <a:endParaRPr lang="vi-VN"/>
          </a:p>
        </p:txBody>
      </p:sp>
      <p:sp>
        <p:nvSpPr>
          <p:cNvPr id="7" name="Shape 5"/>
          <p:cNvSpPr/>
          <p:nvPr/>
        </p:nvSpPr>
        <p:spPr>
          <a:xfrm>
            <a:off x="731520" y="1280160"/>
            <a:ext cx="3749040" cy="3474720"/>
          </a:xfrm>
          <a:prstGeom prst="roundRect">
            <a:avLst>
              <a:gd name="adj" fmla="val 2632"/>
            </a:avLst>
          </a:prstGeom>
          <a:solidFill>
            <a:srgbClr val="EFF6FF"/>
          </a:solidFill>
          <a:ln w="19050">
            <a:solidFill>
              <a:srgbClr val="0047AB"/>
            </a:solidFill>
            <a:prstDash val="solid"/>
          </a:ln>
        </p:spPr>
        <p:txBody>
          <a:bodyPr/>
          <a:lstStyle/>
          <a:p>
            <a:endParaRPr lang="vi-VN"/>
          </a:p>
        </p:txBody>
      </p:sp>
      <p:sp>
        <p:nvSpPr>
          <p:cNvPr id="8" name="Text 6"/>
          <p:cNvSpPr/>
          <p:nvPr/>
        </p:nvSpPr>
        <p:spPr>
          <a:xfrm>
            <a:off x="914400" y="1417320"/>
            <a:ext cx="3383280" cy="274320"/>
          </a:xfrm>
          <a:prstGeom prst="rect">
            <a:avLst/>
          </a:prstGeom>
          <a:noFill/>
          <a:ln/>
        </p:spPr>
        <p:txBody>
          <a:bodyPr wrap="square" rtlCol="0" anchor="ctr"/>
          <a:lstStyle/>
          <a:p>
            <a:pPr marL="0" indent="0">
              <a:buNone/>
            </a:pPr>
            <a:r>
              <a:rPr lang="en-US" sz="1100" b="1" dirty="0">
                <a:solidFill>
                  <a:srgbClr val="1E3A8A"/>
                </a:solidFill>
                <a:latin typeface="Segoe UI" pitchFamily="34" charset="0"/>
                <a:ea typeface="Segoe UI" pitchFamily="34" charset="-122"/>
                <a:cs typeface="Segoe UI" pitchFamily="34" charset="-120"/>
              </a:rPr>
              <a:t>SỨ MỆNH &amp; ĐỘI NGŨ SÁNG LẬP</a:t>
            </a:r>
            <a:endParaRPr lang="en-US" sz="1100" dirty="0"/>
          </a:p>
        </p:txBody>
      </p:sp>
      <p:sp>
        <p:nvSpPr>
          <p:cNvPr id="9" name="Text 7"/>
          <p:cNvSpPr/>
          <p:nvPr/>
        </p:nvSpPr>
        <p:spPr>
          <a:xfrm>
            <a:off x="914400" y="1691640"/>
            <a:ext cx="3383280" cy="640080"/>
          </a:xfrm>
          <a:prstGeom prst="rect">
            <a:avLst/>
          </a:prstGeom>
          <a:noFill/>
          <a:ln/>
        </p:spPr>
        <p:txBody>
          <a:bodyPr wrap="square" rtlCol="0" anchor="ctr"/>
          <a:lstStyle/>
          <a:p>
            <a:pPr marL="0" indent="0">
              <a:buNone/>
            </a:pPr>
            <a:r>
              <a:rPr lang="en-US" sz="1100" b="1" i="1" dirty="0">
                <a:solidFill>
                  <a:srgbClr val="DC2626"/>
                </a:solidFill>
                <a:latin typeface="Segoe UI" pitchFamily="34" charset="0"/>
                <a:ea typeface="Segoe UI" pitchFamily="34" charset="-122"/>
                <a:cs typeface="Segoe UI" pitchFamily="34" charset="-120"/>
              </a:rPr>
              <a:t>“Mang công nghệ số phụng sự quê hương, biến vẻ đẹp hoang sơ của Gia Lai thành điểm đến thông minh hàng đầu Việt Nam.”</a:t>
            </a:r>
            <a:endParaRPr lang="en-US" sz="1100" dirty="0"/>
          </a:p>
        </p:txBody>
      </p:sp>
      <p:sp>
        <p:nvSpPr>
          <p:cNvPr id="10" name="Text 8"/>
          <p:cNvSpPr/>
          <p:nvPr/>
        </p:nvSpPr>
        <p:spPr>
          <a:xfrm>
            <a:off x="914400" y="2377440"/>
            <a:ext cx="3383280" cy="2194560"/>
          </a:xfrm>
          <a:prstGeom prst="rect">
            <a:avLst/>
          </a:prstGeom>
          <a:noFill/>
          <a:ln/>
        </p:spPr>
        <p:txBody>
          <a:bodyPr wrap="square" rtlCol="0" anchor="ctr"/>
          <a:lstStyle/>
          <a:p>
            <a:pPr marL="0" indent="0">
              <a:buNone/>
            </a:pPr>
            <a:r>
              <a:rPr lang="en-US" sz="950" b="1" dirty="0">
                <a:solidFill>
                  <a:srgbClr val="1E3A8A"/>
                </a:solidFill>
                <a:latin typeface="Segoe UI" pitchFamily="34" charset="0"/>
                <a:ea typeface="Segoe UI" pitchFamily="34" charset="-122"/>
                <a:cs typeface="Segoe UI" pitchFamily="34" charset="-120"/>
              </a:rPr>
              <a:t>• Trưởng nhóm &amp; Lập trình chính: </a:t>
            </a:r>
            <a:r>
              <a:rPr lang="en-US" sz="950" dirty="0">
                <a:solidFill>
                  <a:srgbClr val="0F172A"/>
                </a:solidFill>
                <a:latin typeface="Segoe UI" pitchFamily="34" charset="0"/>
                <a:ea typeface="Segoe UI" pitchFamily="34" charset="-122"/>
                <a:cs typeface="Segoe UI" pitchFamily="34" charset="-120"/>
              </a:rPr>
              <a:t>YangKlee (Dương Khánh) - Quản trị và kiến trúc hệ thống Full-stack BE/FE.
</a:t>
            </a:r>
            <a:r>
              <a:rPr lang="en-US" sz="950" b="1" dirty="0">
                <a:solidFill>
                  <a:srgbClr val="1E3A8A"/>
                </a:solidFill>
                <a:latin typeface="Segoe UI" pitchFamily="34" charset="0"/>
                <a:ea typeface="Segoe UI" pitchFamily="34" charset="-122"/>
                <a:cs typeface="Segoe UI" pitchFamily="34" charset="-120"/>
              </a:rPr>
              <a:t>• Thế mạnh đội ngũ: </a:t>
            </a:r>
            <a:r>
              <a:rPr lang="en-US" sz="950" dirty="0">
                <a:solidFill>
                  <a:srgbClr val="0F172A"/>
                </a:solidFill>
                <a:latin typeface="Segoe UI" pitchFamily="34" charset="0"/>
                <a:ea typeface="Segoe UI" pitchFamily="34" charset="-122"/>
                <a:cs typeface="Segoe UI" pitchFamily="34" charset="-120"/>
              </a:rPr>
              <a:t>Am hiểu sâu sắc văn hóa Tây Nguyên, thành thạo công nghệ Web hiện đại, Trí tuệ nhân tạo (AI) và Kiến trúc Offline-First.
</a:t>
            </a:r>
            <a:r>
              <a:rPr lang="en-US" sz="950" b="1" dirty="0">
                <a:solidFill>
                  <a:srgbClr val="1E3A8A"/>
                </a:solidFill>
                <a:latin typeface="Segoe UI" pitchFamily="34" charset="0"/>
                <a:ea typeface="Segoe UI" pitchFamily="34" charset="-122"/>
                <a:cs typeface="Segoe UI" pitchFamily="34" charset="-120"/>
              </a:rPr>
              <a:t>• Tinh thần: </a:t>
            </a:r>
            <a:r>
              <a:rPr lang="en-US" sz="950" dirty="0">
                <a:solidFill>
                  <a:srgbClr val="0F172A"/>
                </a:solidFill>
                <a:latin typeface="Segoe UI" pitchFamily="34" charset="0"/>
                <a:ea typeface="Segoe UI" pitchFamily="34" charset="-122"/>
                <a:cs typeface="Segoe UI" pitchFamily="34" charset="-120"/>
              </a:rPr>
              <a:t>Nhiệt huyết của người trẻ đam mê khởi nghiệp sáng tạo, sẵn sàng học hỏi và cam kết triển khai tới cùng.</a:t>
            </a:r>
            <a:endParaRPr lang="en-US" sz="950" dirty="0"/>
          </a:p>
        </p:txBody>
      </p:sp>
      <p:sp>
        <p:nvSpPr>
          <p:cNvPr id="11" name="Shape 9"/>
          <p:cNvSpPr/>
          <p:nvPr/>
        </p:nvSpPr>
        <p:spPr>
          <a:xfrm>
            <a:off x="4663440" y="1280160"/>
            <a:ext cx="3749040" cy="3474720"/>
          </a:xfrm>
          <a:prstGeom prst="roundRect">
            <a:avLst>
              <a:gd name="adj" fmla="val 2632"/>
            </a:avLst>
          </a:prstGeom>
          <a:solidFill>
            <a:srgbClr val="FFFFFF"/>
          </a:solidFill>
          <a:ln w="25400">
            <a:solidFill>
              <a:srgbClr val="DC2626"/>
            </a:solidFill>
            <a:prstDash val="solid"/>
          </a:ln>
        </p:spPr>
        <p:txBody>
          <a:bodyPr/>
          <a:lstStyle/>
          <a:p>
            <a:endParaRPr lang="vi-VN"/>
          </a:p>
        </p:txBody>
      </p:sp>
      <p:sp>
        <p:nvSpPr>
          <p:cNvPr id="12" name="Text 10"/>
          <p:cNvSpPr/>
          <p:nvPr/>
        </p:nvSpPr>
        <p:spPr>
          <a:xfrm>
            <a:off x="4846320" y="1417320"/>
            <a:ext cx="3383280" cy="274320"/>
          </a:xfrm>
          <a:prstGeom prst="rect">
            <a:avLst/>
          </a:prstGeom>
          <a:noFill/>
          <a:ln/>
        </p:spPr>
        <p:txBody>
          <a:bodyPr wrap="square" rtlCol="0" anchor="ctr"/>
          <a:lstStyle/>
          <a:p>
            <a:pPr marL="0" indent="0">
              <a:buNone/>
            </a:pPr>
            <a:r>
              <a:rPr lang="en-US" sz="1100" b="1" dirty="0">
                <a:solidFill>
                  <a:srgbClr val="991B1B"/>
                </a:solidFill>
                <a:latin typeface="Segoe UI" pitchFamily="34" charset="0"/>
                <a:ea typeface="Segoe UI" pitchFamily="34" charset="-122"/>
                <a:cs typeface="Segoe UI" pitchFamily="34" charset="-120"/>
              </a:rPr>
              <a:t>KÊU GỌI HỢP TÁC &amp; ĐỒNG HÀNH</a:t>
            </a:r>
            <a:endParaRPr lang="en-US" sz="1100" dirty="0"/>
          </a:p>
        </p:txBody>
      </p:sp>
      <p:sp>
        <p:nvSpPr>
          <p:cNvPr id="13" name="Text 11"/>
          <p:cNvSpPr/>
          <p:nvPr/>
        </p:nvSpPr>
        <p:spPr>
          <a:xfrm>
            <a:off x="4846320" y="1737360"/>
            <a:ext cx="3383280" cy="2103120"/>
          </a:xfrm>
          <a:prstGeom prst="rect">
            <a:avLst/>
          </a:prstGeom>
          <a:noFill/>
          <a:ln/>
        </p:spPr>
        <p:txBody>
          <a:bodyPr wrap="square" rtlCol="0" anchor="ctr"/>
          <a:lstStyle/>
          <a:p>
            <a:pPr marL="0" indent="0">
              <a:buNone/>
            </a:pPr>
            <a:r>
              <a:rPr lang="en-US" sz="950" b="1" dirty="0">
                <a:solidFill>
                  <a:srgbClr val="DC2626"/>
                </a:solidFill>
                <a:latin typeface="Segoe UI" pitchFamily="34" charset="0"/>
                <a:ea typeface="Segoe UI" pitchFamily="34" charset="-122"/>
                <a:cs typeface="Segoe UI" pitchFamily="34" charset="-120"/>
              </a:rPr>
              <a:t>1. Tìm kiếm Cố vấn &amp; Vốn Hạt Giống (Seed Round):
</a:t>
            </a:r>
            <a:r>
              <a:rPr lang="en-US" sz="950" dirty="0">
                <a:solidFill>
                  <a:srgbClr val="0F172A"/>
                </a:solidFill>
                <a:latin typeface="Segoe UI" pitchFamily="34" charset="0"/>
                <a:ea typeface="Segoe UI" pitchFamily="34" charset="-122"/>
                <a:cs typeface="Segoe UI" pitchFamily="34" charset="-120"/>
              </a:rPr>
              <a:t>Quy mô kêu gọi 200 - 500 triệu VND phục vụ chi phí mở rộng máy chủ, sản xuất kho nội dung số bản địa và đẩy mạnh truyền thông.
</a:t>
            </a:r>
            <a:r>
              <a:rPr lang="en-US" sz="950" b="1" dirty="0">
                <a:solidFill>
                  <a:srgbClr val="1E3A8A"/>
                </a:solidFill>
                <a:latin typeface="Segoe UI" pitchFamily="34" charset="0"/>
                <a:ea typeface="Segoe UI" pitchFamily="34" charset="-122"/>
                <a:cs typeface="Segoe UI" pitchFamily="34" charset="-120"/>
              </a:rPr>
              <a:t>2. Hợp tác Đối tác Doanh nghiệp Địa phương:
</a:t>
            </a:r>
            <a:r>
              <a:rPr lang="en-US" sz="950" dirty="0">
                <a:solidFill>
                  <a:srgbClr val="0F172A"/>
                </a:solidFill>
                <a:latin typeface="Segoe UI" pitchFamily="34" charset="0"/>
                <a:ea typeface="Segoe UI" pitchFamily="34" charset="-122"/>
                <a:cs typeface="Segoe UI" pitchFamily="34" charset="-120"/>
              </a:rPr>
              <a:t>Chào đón các khách sạn, homestay, quán cà phê, đơn vị cho thuê xe tại Gia Lai tham gia thử nghiệm miễn phí hệ thống.
</a:t>
            </a:r>
            <a:r>
              <a:rPr lang="en-US" sz="950" b="1" dirty="0">
                <a:solidFill>
                  <a:srgbClr val="1E3A8A"/>
                </a:solidFill>
                <a:latin typeface="Segoe UI" pitchFamily="34" charset="0"/>
                <a:ea typeface="Segoe UI" pitchFamily="34" charset="-122"/>
                <a:cs typeface="Segoe UI" pitchFamily="34" charset="-120"/>
              </a:rPr>
              <a:t>3. Đồng hành cùng Cơ quan Quản lý Nhà nước:
</a:t>
            </a:r>
            <a:r>
              <a:rPr lang="en-US" sz="950" dirty="0">
                <a:solidFill>
                  <a:srgbClr val="0F172A"/>
                </a:solidFill>
                <a:latin typeface="Segoe UI" pitchFamily="34" charset="0"/>
                <a:ea typeface="Segoe UI" pitchFamily="34" charset="-122"/>
                <a:cs typeface="Segoe UI" pitchFamily="34" charset="-120"/>
              </a:rPr>
              <a:t>Sẵn sàng kết nối chia sẻ dữ liệu và giải pháp thúc đẩy Chuyển đổi số Du lịch tỉnh Gia Lai.</a:t>
            </a:r>
            <a:endParaRPr lang="en-US" sz="950" dirty="0"/>
          </a:p>
        </p:txBody>
      </p:sp>
      <p:sp>
        <p:nvSpPr>
          <p:cNvPr id="14" name="Shape 12"/>
          <p:cNvSpPr/>
          <p:nvPr/>
        </p:nvSpPr>
        <p:spPr>
          <a:xfrm>
            <a:off x="4846320" y="3886200"/>
            <a:ext cx="3383280" cy="731520"/>
          </a:xfrm>
          <a:prstGeom prst="roundRect">
            <a:avLst>
              <a:gd name="adj" fmla="val 10000"/>
            </a:avLst>
          </a:prstGeom>
          <a:solidFill>
            <a:srgbClr val="1E3A8A"/>
          </a:solidFill>
          <a:ln/>
        </p:spPr>
        <p:txBody>
          <a:bodyPr/>
          <a:lstStyle/>
          <a:p>
            <a:endParaRPr lang="vi-VN"/>
          </a:p>
        </p:txBody>
      </p:sp>
      <p:sp>
        <p:nvSpPr>
          <p:cNvPr id="15" name="Text 13"/>
          <p:cNvSpPr/>
          <p:nvPr/>
        </p:nvSpPr>
        <p:spPr>
          <a:xfrm>
            <a:off x="4846320" y="3886200"/>
            <a:ext cx="3383280" cy="73152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LIÊN HỆ &amp; TRẢI NGHIỆM TRỰC TIẾP</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 gialaitravel.yangkleeserver.io.vn</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 khanhduong18072005@gmail.com</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2621</Words>
  <Application>Microsoft Office PowerPoint</Application>
  <PresentationFormat>On-screen Show (16:9)</PresentationFormat>
  <Paragraphs>180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GiaLai Travel - Ý tưởng Khởi nghiệp Du lịch số</dc:title>
  <dc:subject>PptxGenJS Presentation</dc:subject>
  <dc:creator>YangKlee - GiaLai Travel Team</dc:creator>
  <cp:lastModifiedBy>Nguyễn Khánh Dương</cp:lastModifiedBy>
  <cp:revision>2</cp:revision>
  <dcterms:created xsi:type="dcterms:W3CDTF">2026-10-31T07:12:01Z</dcterms:created>
  <dcterms:modified xsi:type="dcterms:W3CDTF">2026-10-31T07:48:49Z</dcterms:modified>
</cp:coreProperties>
</file>